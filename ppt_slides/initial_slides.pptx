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69" r:id="rId3"/>
    <p:sldId id="268" r:id="rId4"/>
    <p:sldId id="265" r:id="rId5"/>
    <p:sldId id="270" r:id="rId6"/>
    <p:sldId id="264" r:id="rId7"/>
    <p:sldId id="261" r:id="rId8"/>
    <p:sldId id="267" r:id="rId9"/>
    <p:sldId id="263" r:id="rId10"/>
    <p:sldId id="262" r:id="rId11"/>
    <p:sldId id="257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514"/>
    <p:restoredTop sz="94682"/>
  </p:normalViewPr>
  <p:slideViewPr>
    <p:cSldViewPr snapToGrid="0">
      <p:cViewPr>
        <p:scale>
          <a:sx n="124" d="100"/>
          <a:sy n="124" d="100"/>
        </p:scale>
        <p:origin x="168" y="2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51417D0-CB13-9848-9D24-34B16137EAAB}" type="datetimeFigureOut">
              <a:rPr lang="en-US" smtClean="0"/>
              <a:t>7/29/26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0366151-CFE5-8342-A96E-8CE792ECB7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73706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366151-CFE5-8342-A96E-8CE792ECB769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659435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Roughly ionizes at this point. Currently </a:t>
            </a:r>
            <a:r>
              <a:rPr lang="en-GB" dirty="0"/>
              <a:t>running the </a:t>
            </a:r>
            <a:r>
              <a:rPr lang="en-GB" dirty="0" err="1"/>
              <a:t>prepulse</a:t>
            </a:r>
            <a:r>
              <a:rPr lang="en-GB" dirty="0"/>
              <a:t> simulation with methane clusters, and then using that to inform the cluster density and size in the </a:t>
            </a:r>
            <a:r>
              <a:rPr lang="en-GB" dirty="0" err="1"/>
              <a:t>lwfa</a:t>
            </a:r>
            <a:r>
              <a:rPr lang="en-GB" dirty="0"/>
              <a:t> simulations (which will use the 45fs main pulse).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366151-CFE5-8342-A96E-8CE792ECB769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236212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Ionises</a:t>
            </a:r>
            <a:r>
              <a:rPr lang="en-US" dirty="0"/>
              <a:t> almost instantly, need to start sim from earlier on. Clusters initially at 130 </a:t>
            </a:r>
            <a:r>
              <a:rPr lang="en-US" dirty="0" err="1"/>
              <a:t>n_crit</a:t>
            </a:r>
            <a:r>
              <a:rPr lang="en-US" dirty="0"/>
              <a:t>, 10nm sigma.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366151-CFE5-8342-A96E-8CE792ECB769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880906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6D6C53-57B9-DEE2-04D2-B44E5955D3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BFF59E4-8C25-93D1-5EDF-B40985D81DC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041C588-C408-E9AC-8DBF-43DE450495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Roughly ionizes at this point. Currently </a:t>
            </a:r>
            <a:r>
              <a:rPr lang="en-GB" dirty="0"/>
              <a:t>running the </a:t>
            </a:r>
            <a:r>
              <a:rPr lang="en-GB" dirty="0" err="1"/>
              <a:t>prepulse</a:t>
            </a:r>
            <a:r>
              <a:rPr lang="en-GB" dirty="0"/>
              <a:t> simulation with methane clusters, and then using that to inform the cluster density and size in the </a:t>
            </a:r>
            <a:r>
              <a:rPr lang="en-GB" dirty="0" err="1"/>
              <a:t>lwfa</a:t>
            </a:r>
            <a:r>
              <a:rPr lang="en-GB" dirty="0"/>
              <a:t> simulations (which will use the 45fs main pulse).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D7B7F1-A56C-7420-A258-6B8229F5886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366151-CFE5-8342-A96E-8CE792ECB769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58185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366151-CFE5-8342-A96E-8CE792ECB769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25703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Comes from charge separation during </a:t>
            </a:r>
            <a:r>
              <a:rPr lang="en-US" dirty="0" err="1"/>
              <a:t>ionisation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366151-CFE5-8342-A96E-8CE792ECB769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66844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3977C1-AF6D-58F3-44C4-B6F96EDFC3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17D3C7-2CC8-48FA-3FBD-E04B0EA8E88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1E94D3-B5D9-2FE3-E578-8289D05365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4A74BE-B976-9A42-A5FC-4A1604C23324}" type="datetimeFigureOut">
              <a:rPr lang="en-US" smtClean="0"/>
              <a:t>7/24/26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A76A24-A48A-86D7-0F53-2E6F1F0CE0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10DE6B-1CC3-1A9A-540B-E02177FF1E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DE95D9-109A-694B-BA41-4DA16B3405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42123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E2A23A-4425-BA38-E0A1-463484CF6F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9EBE2C-E407-0E22-00FC-361F951A68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F253CE-2F8C-C7E1-C79B-BEE5979B05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4A74BE-B976-9A42-A5FC-4A1604C23324}" type="datetimeFigureOut">
              <a:rPr lang="en-US" smtClean="0"/>
              <a:t>7/24/26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860780-611B-6EB7-461F-5C53F72537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A1B2F3-BA20-8559-49AB-3440350E3E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DE95D9-109A-694B-BA41-4DA16B3405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66417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0DA2EC-920D-5248-B2C4-953DC02627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B83812-DB0C-90EE-3AF0-B94E4868C7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9A7117-8316-C4C5-722E-05504A3F53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4A74BE-B976-9A42-A5FC-4A1604C23324}" type="datetimeFigureOut">
              <a:rPr lang="en-US" smtClean="0"/>
              <a:t>7/24/26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70C582-FB1F-A189-A7B3-9B6E3AF723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FD8CA4-B30C-D0DD-5F31-0123C67555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DE95D9-109A-694B-BA41-4DA16B3405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93579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7F5725-49BF-FC42-FF5F-F113D47E65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B27E76-707D-3FB5-B7CF-CB185B61FDE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6912824-0502-36E6-444D-09957B6BF0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649CE9E-0F52-41C8-A8CD-D790F57E0A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4A74BE-B976-9A42-A5FC-4A1604C23324}" type="datetimeFigureOut">
              <a:rPr lang="en-US" smtClean="0"/>
              <a:t>7/24/26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5BADDF-69F9-C98B-EB96-DEC64D44F0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7F63EA-12B8-A87A-CCD0-D1E084239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DE95D9-109A-694B-BA41-4DA16B3405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42291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17CEE1-7355-25E3-7364-6AD10025E1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3A055C-7079-7E1F-EFA7-AFB8FE7C5F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86673B6-0A7C-25A0-D1F0-0C5317CC9F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393532B-2045-C8F6-C757-4497330414C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792A4B6-92CB-0EAD-73C9-76B3D1E8EEE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C29DC8E-C370-427F-3866-9336B2A801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4A74BE-B976-9A42-A5FC-4A1604C23324}" type="datetimeFigureOut">
              <a:rPr lang="en-US" smtClean="0"/>
              <a:t>7/24/26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D52E293-3074-7DBB-8781-5685DD0905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FD72E34-A7C1-4802-9CD0-C9EE464F7B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DE95D9-109A-694B-BA41-4DA16B3405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38131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DC601B-7AFB-1E4E-258C-FB4656BAD4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2F3352-AF9B-41F0-188D-B5622BF35D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4A74BE-B976-9A42-A5FC-4A1604C23324}" type="datetimeFigureOut">
              <a:rPr lang="en-US" smtClean="0"/>
              <a:t>7/24/26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6385723-3B7E-7FCE-D2B7-ABB8981799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9AF5A9E-7E27-6FF8-146C-56D13DC4ED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DE95D9-109A-694B-BA41-4DA16B3405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09465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9F3A58F-6FAD-812F-55CC-454FCA9B6A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4A74BE-B976-9A42-A5FC-4A1604C23324}" type="datetimeFigureOut">
              <a:rPr lang="en-US" smtClean="0"/>
              <a:t>7/24/26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2400E94-FD1C-4028-C202-1B02E3426D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FB3635-9F48-9032-E168-48BCD4605C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DE95D9-109A-694B-BA41-4DA16B3405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47408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2F0F69-A910-D246-9B29-D96559B914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B1A1DC-F33E-1FBF-E1B7-1077F24BB8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43D1AC-4817-AAC2-CA24-1FD2B50965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363D4C-68F5-7092-D323-47434426A3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4A74BE-B976-9A42-A5FC-4A1604C23324}" type="datetimeFigureOut">
              <a:rPr lang="en-US" smtClean="0"/>
              <a:t>7/24/26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2A858A-E093-9260-E5AF-458F6115AC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DBF61C-1E41-6627-55BA-01C1E2CDF7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DE95D9-109A-694B-BA41-4DA16B3405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08673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F60D9A-FEB0-A1B5-DBF6-201D4FDFDB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3141D23-A62E-39FC-20BB-EA8157CD848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9417B95-4FC7-E20A-DA84-C2FBC8D485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A70970F-6285-2AAB-7115-351A705BD1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4A74BE-B976-9A42-A5FC-4A1604C23324}" type="datetimeFigureOut">
              <a:rPr lang="en-US" smtClean="0"/>
              <a:t>7/24/26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702E3A-C396-B12E-FB74-F6D53E133A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6D7C08C-5510-6E37-44A1-3E4CD0F0AC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DE95D9-109A-694B-BA41-4DA16B3405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97261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EEF542-178E-7494-AD72-8DB71E137D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9CFFA15-5C22-0EB8-5DA0-2F0355E84C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FEFF84-11DA-B9B4-7DD7-EDB60B87EF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4A74BE-B976-9A42-A5FC-4A1604C23324}" type="datetimeFigureOut">
              <a:rPr lang="en-US" smtClean="0"/>
              <a:t>7/24/26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69402C-D965-0239-8D06-F3F39CC4B0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0E7B1B-EC11-2D6F-61AE-29CC5FD934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DE95D9-109A-694B-BA41-4DA16B3405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15067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6280806-006A-2D6F-888C-45CC62A54DE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4F03407-B29D-9B80-1361-AB21D33F7E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E2C6A0-A9FA-5FC0-C2E2-C7B9474B3A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4A74BE-B976-9A42-A5FC-4A1604C23324}" type="datetimeFigureOut">
              <a:rPr lang="en-US" smtClean="0"/>
              <a:t>7/24/26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40EBE8-B181-09FB-5E50-00C1525CF8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F5370F-8828-8248-3A47-81CC5E67CC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DE95D9-109A-694B-BA41-4DA16B3405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39778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303F82F-4F8C-A19A-BF72-64B4CDB1E8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3F2338-BC41-4FE5-EA5B-D6BFD6A36C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E2EA18-C493-4A67-51DE-A69147E1E31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34A74BE-B976-9A42-A5FC-4A1604C23324}" type="datetimeFigureOut">
              <a:rPr lang="en-US" smtClean="0"/>
              <a:t>7/24/26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983849-61B7-D554-CD51-4217438C837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60BC96-9E08-4236-0793-A588B1E933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1DE95D9-109A-694B-BA41-4DA16B3405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4782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5.png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notesSlide" Target="../notesSlides/notesSlid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2.mp4"/><Relationship Id="rId1" Type="http://schemas.microsoft.com/office/2007/relationships/media" Target="../media/media2.mp4"/><Relationship Id="rId5" Type="http://schemas.openxmlformats.org/officeDocument/2006/relationships/image" Target="../media/image6.png"/><Relationship Id="rId4" Type="http://schemas.openxmlformats.org/officeDocument/2006/relationships/notesSlide" Target="../notesSlides/notesSlide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3.mp4"/><Relationship Id="rId1" Type="http://schemas.microsoft.com/office/2007/relationships/media" Target="../media/media3.mp4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4.mp4"/><Relationship Id="rId1" Type="http://schemas.microsoft.com/office/2007/relationships/media" Target="../media/media4.mp4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84D21F-EF77-04E8-6C3A-0A1E3EEC7ED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Progress Update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8C63231-5C8A-BFE4-CD75-C2544201DD7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Cluster-Enhanced Injection in LWFA</a:t>
            </a:r>
          </a:p>
        </p:txBody>
      </p:sp>
    </p:spTree>
    <p:extLst>
      <p:ext uri="{BB962C8B-B14F-4D97-AF65-F5344CB8AC3E}">
        <p14:creationId xmlns:p14="http://schemas.microsoft.com/office/powerpoint/2010/main" val="14138569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F13C74B1-5B17-4795-BED0-7140497B44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F3FE459-991D-F6D1-D8D8-EE0A9FD529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5369"/>
            <a:ext cx="4368602" cy="1956841"/>
          </a:xfrm>
        </p:spPr>
        <p:txBody>
          <a:bodyPr anchor="b">
            <a:normAutofit/>
          </a:bodyPr>
          <a:lstStyle/>
          <a:p>
            <a:r>
              <a:rPr lang="en-US" sz="4200"/>
              <a:t>Clustered vs Unclustered medium</a:t>
            </a:r>
          </a:p>
        </p:txBody>
      </p:sp>
      <p:sp>
        <p:nvSpPr>
          <p:cNvPr id="20" name="sketchy line">
            <a:extLst>
              <a:ext uri="{FF2B5EF4-FFF2-40B4-BE49-F238E27FC236}">
                <a16:creationId xmlns:a16="http://schemas.microsoft.com/office/drawing/2014/main" id="{D4974D33-8DC5-464E-8C6D-BE58F0669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2586994"/>
            <a:ext cx="3474720" cy="18288"/>
          </a:xfrm>
          <a:custGeom>
            <a:avLst/>
            <a:gdLst>
              <a:gd name="csX0" fmla="*/ 0 w 3474720"/>
              <a:gd name="csY0" fmla="*/ 0 h 18288"/>
              <a:gd name="csX1" fmla="*/ 694944 w 3474720"/>
              <a:gd name="csY1" fmla="*/ 0 h 18288"/>
              <a:gd name="csX2" fmla="*/ 1355141 w 3474720"/>
              <a:gd name="csY2" fmla="*/ 0 h 18288"/>
              <a:gd name="csX3" fmla="*/ 2015338 w 3474720"/>
              <a:gd name="csY3" fmla="*/ 0 h 18288"/>
              <a:gd name="csX4" fmla="*/ 2779776 w 3474720"/>
              <a:gd name="csY4" fmla="*/ 0 h 18288"/>
              <a:gd name="csX5" fmla="*/ 3474720 w 3474720"/>
              <a:gd name="csY5" fmla="*/ 0 h 18288"/>
              <a:gd name="csX6" fmla="*/ 3474720 w 3474720"/>
              <a:gd name="csY6" fmla="*/ 18288 h 18288"/>
              <a:gd name="csX7" fmla="*/ 2779776 w 3474720"/>
              <a:gd name="csY7" fmla="*/ 18288 h 18288"/>
              <a:gd name="csX8" fmla="*/ 2189074 w 3474720"/>
              <a:gd name="csY8" fmla="*/ 18288 h 18288"/>
              <a:gd name="csX9" fmla="*/ 1528877 w 3474720"/>
              <a:gd name="csY9" fmla="*/ 18288 h 18288"/>
              <a:gd name="csX10" fmla="*/ 868680 w 3474720"/>
              <a:gd name="csY10" fmla="*/ 18288 h 18288"/>
              <a:gd name="csX11" fmla="*/ 0 w 3474720"/>
              <a:gd name="csY11" fmla="*/ 18288 h 18288"/>
              <a:gd name="csX12" fmla="*/ 0 w 347472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0A8F721-EDEE-B072-4FAE-544216F3EA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872899"/>
            <a:ext cx="4243589" cy="3320668"/>
          </a:xfrm>
        </p:spPr>
        <p:txBody>
          <a:bodyPr>
            <a:normAutofit/>
          </a:bodyPr>
          <a:lstStyle/>
          <a:p>
            <a:r>
              <a:rPr lang="en-US" sz="2200" dirty="0"/>
              <a:t>Aim is to investigate how the use of CH4/He clusters impacts LWFA</a:t>
            </a:r>
          </a:p>
          <a:p>
            <a:endParaRPr lang="en-US" sz="2200" dirty="0"/>
          </a:p>
          <a:p>
            <a:r>
              <a:rPr lang="en-US" sz="2200" dirty="0"/>
              <a:t>Specific focus on measuring cluster impact on electron beam energy spectrum, beam divergence and laser a0 evolution</a:t>
            </a:r>
          </a:p>
          <a:p>
            <a:endParaRPr lang="en-US" sz="2200" dirty="0"/>
          </a:p>
          <a:p>
            <a:endParaRPr lang="en-US" sz="2200" dirty="0"/>
          </a:p>
          <a:p>
            <a:pPr marL="0" indent="0">
              <a:buNone/>
            </a:pPr>
            <a:endParaRPr lang="en-US" sz="2200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783C9E88-887F-2ABD-41B4-D33C0005037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552" r="8240"/>
          <a:stretch>
            <a:fillRect/>
          </a:stretch>
        </p:blipFill>
        <p:spPr>
          <a:xfrm>
            <a:off x="5828460" y="202768"/>
            <a:ext cx="6171757" cy="5613093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5765CF5-3ABC-028A-A7BF-3C4C5F5784F2}"/>
              </a:ext>
            </a:extLst>
          </p:cNvPr>
          <p:cNvSpPr txBox="1"/>
          <p:nvPr/>
        </p:nvSpPr>
        <p:spPr>
          <a:xfrm>
            <a:off x="6271075" y="5731902"/>
            <a:ext cx="609771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Rozario, S.V. (2019). </a:t>
            </a:r>
            <a:r>
              <a:rPr lang="en-GB" i="1" dirty="0"/>
              <a:t>Novel injection and </a:t>
            </a:r>
            <a:r>
              <a:rPr lang="en-GB" i="1" dirty="0" err="1"/>
              <a:t>targetry</a:t>
            </a:r>
            <a:r>
              <a:rPr lang="en-GB" i="1" dirty="0"/>
              <a:t> in laser </a:t>
            </a:r>
            <a:r>
              <a:rPr lang="en-GB" i="1" dirty="0" err="1"/>
              <a:t>wakefield</a:t>
            </a:r>
            <a:r>
              <a:rPr lang="en-GB" i="1" dirty="0"/>
              <a:t> acceleration</a:t>
            </a:r>
            <a:r>
              <a:rPr lang="en-GB" dirty="0"/>
              <a:t>. PhD thesis, Imperial College London.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23773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210804CB-DDC2-7C74-979A-D32B544C0F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7114" y="1176647"/>
            <a:ext cx="6449549" cy="4434064"/>
          </a:xfrm>
          <a:prstGeom prst="rect">
            <a:avLst/>
          </a:prstGeom>
        </p:spPr>
      </p:pic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4079A85A-05D6-0477-4591-D8AD62D196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61372" y="1669763"/>
            <a:ext cx="3443514" cy="3447832"/>
          </a:xfrm>
        </p:spPr>
        <p:txBody>
          <a:bodyPr anchor="t">
            <a:normAutofit/>
          </a:bodyPr>
          <a:lstStyle/>
          <a:p>
            <a:r>
              <a:rPr lang="en-US" sz="2000" dirty="0"/>
              <a:t>Gemini North </a:t>
            </a:r>
            <a:r>
              <a:rPr lang="en-US" sz="2000" dirty="0" err="1"/>
              <a:t>Prepulse</a:t>
            </a:r>
            <a:r>
              <a:rPr lang="en-US" sz="2000" dirty="0"/>
              <a:t> measurement</a:t>
            </a:r>
          </a:p>
          <a:p>
            <a:endParaRPr lang="en-US" sz="2000" dirty="0"/>
          </a:p>
          <a:p>
            <a:r>
              <a:rPr lang="en-US" sz="2000" dirty="0"/>
              <a:t>Previously was assumed this </a:t>
            </a:r>
            <a:r>
              <a:rPr lang="en-US" sz="2000" dirty="0" err="1"/>
              <a:t>prepulse</a:t>
            </a:r>
            <a:r>
              <a:rPr lang="en-US" sz="2000" dirty="0"/>
              <a:t> leads to expansion of the CH4 clusters to ~ 5 </a:t>
            </a:r>
            <a:r>
              <a:rPr lang="en-US" sz="2000" dirty="0" err="1"/>
              <a:t>n_crit</a:t>
            </a:r>
            <a:endParaRPr lang="en-US" sz="2000" dirty="0"/>
          </a:p>
          <a:p>
            <a:endParaRPr lang="en-US" sz="2000" dirty="0"/>
          </a:p>
          <a:p>
            <a:r>
              <a:rPr lang="en-US" sz="2000" dirty="0" err="1"/>
              <a:t>Ionises</a:t>
            </a:r>
            <a:r>
              <a:rPr lang="en-US" sz="2000" dirty="0"/>
              <a:t> once the intensity surpasses the BSI of CH4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31C49F18-8757-4E87-5C2E-9D6D7B82BA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5025" y="6737718"/>
            <a:ext cx="12207200" cy="123363"/>
            <a:chOff x="-5025" y="6737718"/>
            <a:chExt cx="12207200" cy="123363"/>
          </a:xfrm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25C84D91-E5BF-B919-ACEF-4A25262CEE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DD889E38-27CA-E23F-B646-8D7B4BB17D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5346089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B7356A-E213-9FF3-F52C-4B1563C901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Prepulse</a:t>
            </a:r>
            <a:r>
              <a:rPr lang="en-US" dirty="0"/>
              <a:t> cluster density profile</a:t>
            </a:r>
          </a:p>
        </p:txBody>
      </p:sp>
      <p:pic>
        <p:nvPicPr>
          <p:cNvPr id="10" name="prepulse_rho.mp4">
            <a:hlinkClick r:id="" action="ppaction://media"/>
            <a:extLst>
              <a:ext uri="{FF2B5EF4-FFF2-40B4-BE49-F238E27FC236}">
                <a16:creationId xmlns:a16="http://schemas.microsoft.com/office/drawing/2014/main" id="{4C0A8CC6-0873-97B8-C777-FEC321702AB1}"/>
              </a:ext>
            </a:extLst>
          </p:cNvPr>
          <p:cNvPicPr>
            <a:picLocks noGrp="1" noChangeAspect="1"/>
          </p:cNvPicPr>
          <p:nvPr>
            <p:ph idx="1"/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5084860" y="1253331"/>
            <a:ext cx="5802313" cy="4351338"/>
          </a:xfr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A94015C-9B9D-562C-78DC-81C3976C0C2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8200" y="1441683"/>
            <a:ext cx="3780034" cy="220599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3322124-69C7-960A-95A7-02315F97B1A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8200" y="3647678"/>
            <a:ext cx="3702978" cy="22988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4649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200" fill="hold"/>
                                        <p:tgtEl>
                                          <p:spTgt spid="1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10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1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A172AFF-F26D-810A-E6AF-54B95FD78E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3F8EFB8B-DBC3-1CD8-9055-7B46BA177B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7114" y="1176647"/>
            <a:ext cx="6449549" cy="4434064"/>
          </a:xfrm>
          <a:prstGeom prst="rect">
            <a:avLst/>
          </a:prstGeom>
        </p:spPr>
      </p:pic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EF099A96-E320-029A-6345-1F31EA4CFF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61372" y="1669763"/>
            <a:ext cx="3443514" cy="3447832"/>
          </a:xfrm>
        </p:spPr>
        <p:txBody>
          <a:bodyPr anchor="t">
            <a:normAutofit/>
          </a:bodyPr>
          <a:lstStyle/>
          <a:p>
            <a:r>
              <a:rPr lang="en-US" sz="2000" dirty="0"/>
              <a:t>Gemini North </a:t>
            </a:r>
            <a:r>
              <a:rPr lang="en-US" sz="2000" dirty="0" err="1"/>
              <a:t>Prepulse</a:t>
            </a:r>
            <a:r>
              <a:rPr lang="en-US" sz="2000" dirty="0"/>
              <a:t> measurement</a:t>
            </a:r>
          </a:p>
          <a:p>
            <a:endParaRPr lang="en-US" sz="2000" dirty="0"/>
          </a:p>
          <a:p>
            <a:r>
              <a:rPr lang="en-US" sz="2000" dirty="0"/>
              <a:t>Previously was assumed this </a:t>
            </a:r>
            <a:r>
              <a:rPr lang="en-US" sz="2000" dirty="0" err="1"/>
              <a:t>prepulse</a:t>
            </a:r>
            <a:r>
              <a:rPr lang="en-US" sz="2000" dirty="0"/>
              <a:t> leads to expansion of the CH4 clusters to ~ 5 </a:t>
            </a:r>
            <a:r>
              <a:rPr lang="en-US" sz="2000" dirty="0" err="1"/>
              <a:t>n_crit</a:t>
            </a:r>
            <a:endParaRPr lang="en-US" sz="2000" dirty="0"/>
          </a:p>
          <a:p>
            <a:endParaRPr lang="en-US" sz="2000" dirty="0"/>
          </a:p>
          <a:p>
            <a:r>
              <a:rPr lang="en-US" sz="2000" dirty="0" err="1"/>
              <a:t>Ionises</a:t>
            </a:r>
            <a:r>
              <a:rPr lang="en-US" sz="2000" dirty="0"/>
              <a:t> once the intensity surpasses the BSI of CH4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8F5BBB91-395C-E631-15A3-2FDA45AC4B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5025" y="6737718"/>
            <a:ext cx="12207200" cy="123363"/>
            <a:chOff x="-5025" y="6737718"/>
            <a:chExt cx="12207200" cy="123363"/>
          </a:xfrm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BEF63E85-86D3-B04D-DB7F-DBC3033955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E57BE295-530C-8CC6-748A-90EAD52B9B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8FAF97DE-7CE3-36D9-03EA-0EDDD391B798}"/>
              </a:ext>
            </a:extLst>
          </p:cNvPr>
          <p:cNvCxnSpPr/>
          <p:nvPr/>
        </p:nvCxnSpPr>
        <p:spPr>
          <a:xfrm>
            <a:off x="4828854" y="2434975"/>
            <a:ext cx="585627" cy="52398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7EB28E62-38E3-F511-87DB-0D246DCD6B3A}"/>
              </a:ext>
            </a:extLst>
          </p:cNvPr>
          <p:cNvCxnSpPr/>
          <p:nvPr/>
        </p:nvCxnSpPr>
        <p:spPr>
          <a:xfrm>
            <a:off x="5042899" y="2172984"/>
            <a:ext cx="585627" cy="52398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064602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656031-F31D-65FD-6467-9AF642C0FE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Prepulse</a:t>
            </a:r>
            <a:r>
              <a:rPr lang="en-US" dirty="0"/>
              <a:t> cluster density profile</a:t>
            </a:r>
          </a:p>
        </p:txBody>
      </p:sp>
      <p:pic>
        <p:nvPicPr>
          <p:cNvPr id="7" name="rho_ionise">
            <a:hlinkClick r:id="" action="ppaction://media"/>
            <a:extLst>
              <a:ext uri="{FF2B5EF4-FFF2-40B4-BE49-F238E27FC236}">
                <a16:creationId xmlns:a16="http://schemas.microsoft.com/office/drawing/2014/main" id="{28E68FA0-40EC-3D19-F4CA-4AD8996E96FE}"/>
              </a:ext>
            </a:extLst>
          </p:cNvPr>
          <p:cNvPicPr>
            <a:picLocks noGrp="1" noChangeAspect="1"/>
          </p:cNvPicPr>
          <p:nvPr>
            <p:ph idx="1"/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3194050" y="1825625"/>
            <a:ext cx="5802313" cy="4351338"/>
          </a:xfrm>
        </p:spPr>
      </p:pic>
    </p:spTree>
    <p:extLst>
      <p:ext uri="{BB962C8B-B14F-4D97-AF65-F5344CB8AC3E}">
        <p14:creationId xmlns:p14="http://schemas.microsoft.com/office/powerpoint/2010/main" val="27477556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9334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374B248-41DC-9E64-CD8C-64696576E5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r>
              <a:rPr lang="en-US" sz="40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Unclustered</a:t>
            </a:r>
            <a: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LWFA Baseline Density Profile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0136C64-9344-636A-7DD2-FBB4770F9FF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437"/>
          <a:stretch>
            <a:fillRect/>
          </a:stretch>
        </p:blipFill>
        <p:spPr>
          <a:xfrm>
            <a:off x="2684235" y="2445249"/>
            <a:ext cx="6823526" cy="37984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3326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16FE252-9ADA-A280-66F7-511CC95858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E766979-3108-80D1-90BF-4C2F9ECB03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6F2D7C9-7705-1892-7B64-70C7B06548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4B3BC41-0462-09BF-47A2-3592E8CC6B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677D817-61AC-D581-11F0-F627A0C6E9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DCCF53A-8F71-1EF7-EABF-5A3479BECB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Unclustered LWFA Baseline Density Profile</a:t>
            </a:r>
            <a:endParaRPr lang="en-US" sz="40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3" name="download.mp4">
            <a:hlinkClick r:id="" action="ppaction://media"/>
            <a:extLst>
              <a:ext uri="{FF2B5EF4-FFF2-40B4-BE49-F238E27FC236}">
                <a16:creationId xmlns:a16="http://schemas.microsoft.com/office/drawing/2014/main" id="{AFC1E24E-0239-28F1-241D-BC7691D080E7}"/>
              </a:ext>
            </a:extLst>
          </p:cNvPr>
          <p:cNvPicPr>
            <a:picLocks noGrp="1" noChangeAspect="1"/>
          </p:cNvPicPr>
          <p:nvPr>
            <p:ph idx="1"/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3194050" y="1825625"/>
            <a:ext cx="5802313" cy="4351338"/>
          </a:xfr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0512EC0-F4BF-FBA6-617D-1499533363F2}"/>
              </a:ext>
            </a:extLst>
          </p:cNvPr>
          <p:cNvSpPr txBox="1"/>
          <p:nvPr/>
        </p:nvSpPr>
        <p:spPr>
          <a:xfrm>
            <a:off x="8045404" y="2933974"/>
            <a:ext cx="592057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35175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467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  <p:video>
              <p:cMediaNode vol="80000">
                <p:cTn id="12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27ED800-AE8F-FC1A-F916-44A79DDC46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A08B7F0-3598-2083-464B-459F2864D1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7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Electric field (laser)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33CD3B6-9FE5-62A9-5CA6-BF7E6F1A26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1012" y="1966293"/>
            <a:ext cx="7209975" cy="4452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32391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5AB81CD-3773-9678-3B6F-EF31D59891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7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Electric field along propagation direction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90FAE54-33E9-60E8-D4E1-219F378EA1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34343" y="1966293"/>
            <a:ext cx="6523312" cy="4452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34229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Ey">
            <a:hlinkClick r:id="" action="ppaction://media"/>
            <a:extLst>
              <a:ext uri="{FF2B5EF4-FFF2-40B4-BE49-F238E27FC236}">
                <a16:creationId xmlns:a16="http://schemas.microsoft.com/office/drawing/2014/main" id="{D64AF8A2-49AB-0789-3C66-310715D24A42}"/>
              </a:ext>
            </a:extLst>
          </p:cNvPr>
          <p:cNvPicPr>
            <a:picLocks noGrp="1" noChangeAspect="1"/>
          </p:cNvPicPr>
          <p:nvPr>
            <p:ph idx="1"/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2381955" y="643466"/>
            <a:ext cx="7428090" cy="5571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56233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400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video>
              <p:cMediaNode vol="80000">
                <p:cTn id="12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11618</TotalTime>
  <Words>270</Words>
  <Application>Microsoft Macintosh PowerPoint</Application>
  <PresentationFormat>Widescreen</PresentationFormat>
  <Paragraphs>34</Paragraphs>
  <Slides>11</Slides>
  <Notes>6</Notes>
  <HiddenSlides>1</HiddenSlides>
  <MMClips>4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Aptos</vt:lpstr>
      <vt:lpstr>Aptos Display</vt:lpstr>
      <vt:lpstr>Arial</vt:lpstr>
      <vt:lpstr>Office Theme</vt:lpstr>
      <vt:lpstr>Progress Update</vt:lpstr>
      <vt:lpstr>Clustered vs Unclustered medium</vt:lpstr>
      <vt:lpstr>PowerPoint Presentation</vt:lpstr>
      <vt:lpstr>Prepulse cluster density profile</vt:lpstr>
      <vt:lpstr>PowerPoint Presentation</vt:lpstr>
      <vt:lpstr>Prepulse cluster density profile</vt:lpstr>
      <vt:lpstr>Unclustered LWFA Baseline Density Profile</vt:lpstr>
      <vt:lpstr>Unclustered LWFA Baseline Density Profile</vt:lpstr>
      <vt:lpstr>Electric field (laser)</vt:lpstr>
      <vt:lpstr>Electric field along propagation direction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Akhtar, Ariz (Data Science Summer Intern)</dc:creator>
  <cp:lastModifiedBy>Akhtar, Ariz (Data Science Summer Intern)</cp:lastModifiedBy>
  <cp:revision>5</cp:revision>
  <dcterms:created xsi:type="dcterms:W3CDTF">2026-07-13T16:34:04Z</dcterms:created>
  <dcterms:modified xsi:type="dcterms:W3CDTF">2026-07-30T10:31:02Z</dcterms:modified>
</cp:coreProperties>
</file>