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8" r:id="rId3"/>
    <p:sldId id="259" r:id="rId4"/>
    <p:sldId id="262" r:id="rId5"/>
    <p:sldId id="305" r:id="rId6"/>
    <p:sldId id="263" r:id="rId7"/>
    <p:sldId id="318" r:id="rId8"/>
    <p:sldId id="306" r:id="rId9"/>
    <p:sldId id="260" r:id="rId10"/>
    <p:sldId id="279" r:id="rId11"/>
    <p:sldId id="311" r:id="rId12"/>
    <p:sldId id="309" r:id="rId13"/>
    <p:sldId id="312" r:id="rId14"/>
    <p:sldId id="314" r:id="rId15"/>
    <p:sldId id="304" r:id="rId16"/>
    <p:sldId id="307" r:id="rId17"/>
    <p:sldId id="261" r:id="rId18"/>
    <p:sldId id="300" r:id="rId19"/>
    <p:sldId id="301" r:id="rId20"/>
    <p:sldId id="302" r:id="rId21"/>
    <p:sldId id="303" r:id="rId22"/>
    <p:sldId id="317" r:id="rId23"/>
    <p:sldId id="315" r:id="rId24"/>
    <p:sldId id="316" r:id="rId25"/>
    <p:sldId id="31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658"/>
  </p:normalViewPr>
  <p:slideViewPr>
    <p:cSldViewPr snapToGrid="0">
      <p:cViewPr>
        <p:scale>
          <a:sx n="105" d="100"/>
          <a:sy n="105" d="100"/>
        </p:scale>
        <p:origin x="1032" y="5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98A40B-9F2F-4E42-8BA9-548C723A46DC}" type="datetimeFigureOut">
              <a:rPr lang="en-US" smtClean="0"/>
              <a:t>8/17/26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ECAD8D-F8BE-8142-A593-10B82155D99A}" type="slidenum">
              <a:rPr lang="en-US" smtClean="0"/>
              <a:t>‹#›</a:t>
            </a:fld>
            <a:endParaRPr lang="en-US"/>
          </a:p>
        </p:txBody>
      </p:sp>
    </p:spTree>
    <p:extLst>
      <p:ext uri="{BB962C8B-B14F-4D97-AF65-F5344CB8AC3E}">
        <p14:creationId xmlns:p14="http://schemas.microsoft.com/office/powerpoint/2010/main" val="1640520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ECAD8D-F8BE-8142-A593-10B82155D99A}" type="slidenum">
              <a:rPr lang="en-US" smtClean="0"/>
              <a:t>1</a:t>
            </a:fld>
            <a:endParaRPr lang="en-US"/>
          </a:p>
        </p:txBody>
      </p:sp>
    </p:spTree>
    <p:extLst>
      <p:ext uri="{BB962C8B-B14F-4D97-AF65-F5344CB8AC3E}">
        <p14:creationId xmlns:p14="http://schemas.microsoft.com/office/powerpoint/2010/main" val="21518731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u="none" strike="noStrike" kern="1200" dirty="0">
                <a:solidFill>
                  <a:schemeClr val="tx1"/>
                </a:solidFill>
                <a:effectLst/>
                <a:latin typeface="+mn-lt"/>
                <a:ea typeface="+mn-ea"/>
                <a:cs typeface="+mn-cs"/>
              </a:rPr>
              <a:t>Radiation therapy: Delivering ultra-high dose-rate beams potentially useful for advanced cancer treatments.</a:t>
            </a:r>
          </a:p>
          <a:p>
            <a:r>
              <a:rPr lang="en-GB" sz="1200" b="0" u="none" strike="noStrike" kern="1200" dirty="0">
                <a:solidFill>
                  <a:schemeClr val="tx1"/>
                </a:solidFill>
                <a:effectLst/>
                <a:latin typeface="+mn-lt"/>
                <a:ea typeface="+mn-ea"/>
                <a:cs typeface="+mn-cs"/>
              </a:rPr>
              <a:t>Medical imaging: Generating compact, high-brightness X-rays for sharp internal diagnostics.</a:t>
            </a:r>
          </a:p>
          <a:p>
            <a:r>
              <a:rPr lang="en-GB" sz="1200" b="0" u="none" strike="noStrike" kern="1200" dirty="0">
                <a:solidFill>
                  <a:schemeClr val="tx1"/>
                </a:solidFill>
                <a:effectLst/>
                <a:latin typeface="+mn-lt"/>
                <a:ea typeface="+mn-ea"/>
                <a:cs typeface="+mn-cs"/>
              </a:rPr>
              <a:t>QED experiments</a:t>
            </a:r>
          </a:p>
          <a:p>
            <a:r>
              <a:rPr lang="en-GB" sz="1200" b="0" u="none" strike="noStrike" kern="1200" dirty="0">
                <a:solidFill>
                  <a:schemeClr val="tx1"/>
                </a:solidFill>
                <a:effectLst/>
                <a:latin typeface="+mn-lt"/>
                <a:ea typeface="+mn-ea"/>
                <a:cs typeface="+mn-cs"/>
              </a:rPr>
              <a:t>Compton sources (all of these are Laser-plasma accelerator uses)</a:t>
            </a:r>
          </a:p>
          <a:p>
            <a:endParaRPr lang="en-US" dirty="0"/>
          </a:p>
        </p:txBody>
      </p:sp>
      <p:sp>
        <p:nvSpPr>
          <p:cNvPr id="4" name="Slide Number Placeholder 3"/>
          <p:cNvSpPr>
            <a:spLocks noGrp="1"/>
          </p:cNvSpPr>
          <p:nvPr>
            <p:ph type="sldNum" sz="quarter" idx="5"/>
          </p:nvPr>
        </p:nvSpPr>
        <p:spPr/>
        <p:txBody>
          <a:bodyPr/>
          <a:lstStyle/>
          <a:p>
            <a:fld id="{7DECAD8D-F8BE-8142-A593-10B82155D99A}" type="slidenum">
              <a:rPr lang="en-US" smtClean="0"/>
              <a:t>4</a:t>
            </a:fld>
            <a:endParaRPr lang="en-US"/>
          </a:p>
        </p:txBody>
      </p:sp>
    </p:spTree>
    <p:extLst>
      <p:ext uri="{BB962C8B-B14F-4D97-AF65-F5344CB8AC3E}">
        <p14:creationId xmlns:p14="http://schemas.microsoft.com/office/powerpoint/2010/main" val="7910254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Charge density plot for LWFA (from a laser-based acceleration scheme for muon production)</a:t>
            </a:r>
          </a:p>
        </p:txBody>
      </p:sp>
      <p:sp>
        <p:nvSpPr>
          <p:cNvPr id="4" name="Slide Number Placeholder 3"/>
          <p:cNvSpPr>
            <a:spLocks noGrp="1"/>
          </p:cNvSpPr>
          <p:nvPr>
            <p:ph type="sldNum" sz="quarter" idx="5"/>
          </p:nvPr>
        </p:nvSpPr>
        <p:spPr/>
        <p:txBody>
          <a:bodyPr/>
          <a:lstStyle/>
          <a:p>
            <a:fld id="{7DECAD8D-F8BE-8142-A593-10B82155D99A}" type="slidenum">
              <a:rPr lang="en-US" smtClean="0"/>
              <a:t>5</a:t>
            </a:fld>
            <a:endParaRPr lang="en-US"/>
          </a:p>
        </p:txBody>
      </p:sp>
    </p:spTree>
    <p:extLst>
      <p:ext uri="{BB962C8B-B14F-4D97-AF65-F5344CB8AC3E}">
        <p14:creationId xmlns:p14="http://schemas.microsoft.com/office/powerpoint/2010/main" val="31906042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We’re using methane because it easily forms nanoscale molecular clusters when expanded through high backing pressures through a nozzle into a vacuum. </a:t>
            </a:r>
            <a:r>
              <a:rPr lang="en-GB" dirty="0"/>
              <a:t>Dense molecular clusters introduce localised gradients that help with coupling laser energy directly to the accelerating electrons. </a:t>
            </a:r>
            <a:endParaRPr lang="en-US" dirty="0"/>
          </a:p>
        </p:txBody>
      </p:sp>
      <p:sp>
        <p:nvSpPr>
          <p:cNvPr id="4" name="Slide Number Placeholder 3"/>
          <p:cNvSpPr>
            <a:spLocks noGrp="1"/>
          </p:cNvSpPr>
          <p:nvPr>
            <p:ph type="sldNum" sz="quarter" idx="5"/>
          </p:nvPr>
        </p:nvSpPr>
        <p:spPr/>
        <p:txBody>
          <a:bodyPr/>
          <a:lstStyle/>
          <a:p>
            <a:fld id="{7DECAD8D-F8BE-8142-A593-10B82155D99A}" type="slidenum">
              <a:rPr lang="en-US" smtClean="0"/>
              <a:t>6</a:t>
            </a:fld>
            <a:endParaRPr lang="en-US"/>
          </a:p>
        </p:txBody>
      </p:sp>
    </p:spTree>
    <p:extLst>
      <p:ext uri="{BB962C8B-B14F-4D97-AF65-F5344CB8AC3E}">
        <p14:creationId xmlns:p14="http://schemas.microsoft.com/office/powerpoint/2010/main" val="9340472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EE550-1FA8-5C1A-BDF6-464C75E11D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5D5EF5-0939-98BE-E218-531416D3C5E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23E7BFB-F65B-F91C-A6BC-39650F6338DC}"/>
              </a:ext>
            </a:extLst>
          </p:cNvPr>
          <p:cNvSpPr>
            <a:spLocks noGrp="1"/>
          </p:cNvSpPr>
          <p:nvPr>
            <p:ph type="body" idx="1"/>
          </p:nvPr>
        </p:nvSpPr>
        <p:spPr/>
        <p:txBody>
          <a:bodyPr/>
          <a:lstStyle/>
          <a:p>
            <a:r>
              <a:rPr lang="en-GB" sz="1200" kern="1200" dirty="0" err="1">
                <a:solidFill>
                  <a:schemeClr val="tx1"/>
                </a:solidFill>
                <a:effectLst/>
                <a:latin typeface="+mn-lt"/>
                <a:ea typeface="+mn-ea"/>
                <a:cs typeface="+mn-cs"/>
              </a:rPr>
              <a:t>kh</a:t>
            </a:r>
            <a:r>
              <a:rPr lang="en-GB" sz="1200" kern="1200" dirty="0">
                <a:solidFill>
                  <a:schemeClr val="tx1"/>
                </a:solidFill>
                <a:effectLst/>
                <a:latin typeface="+mn-lt"/>
                <a:ea typeface="+mn-ea"/>
                <a:cs typeface="+mn-cs"/>
              </a:rPr>
              <a:t> is a parameter related to the condensation properties of the gas, α is the half angle of the nozzle, d is the critical diameter in </a:t>
            </a:r>
            <a:r>
              <a:rPr lang="en-GB" sz="1200" kern="1200" dirty="0" err="1">
                <a:solidFill>
                  <a:schemeClr val="tx1"/>
                </a:solidFill>
                <a:effectLst/>
                <a:latin typeface="+mn-lt"/>
                <a:ea typeface="+mn-ea"/>
                <a:cs typeface="+mn-cs"/>
              </a:rPr>
              <a:t>micrometers</a:t>
            </a:r>
            <a:r>
              <a:rPr lang="en-GB" sz="1200" kern="1200" dirty="0">
                <a:solidFill>
                  <a:schemeClr val="tx1"/>
                </a:solidFill>
                <a:effectLst/>
                <a:latin typeface="+mn-lt"/>
                <a:ea typeface="+mn-ea"/>
                <a:cs typeface="+mn-cs"/>
              </a:rPr>
              <a:t>, P0 is the backing pressure in millibar, T0 is the initial temperature of the gas in kelvin and ⟨</a:t>
            </a:r>
            <a:r>
              <a:rPr lang="en-GB" sz="1200" kern="1200" dirty="0" err="1">
                <a:solidFill>
                  <a:schemeClr val="tx1"/>
                </a:solidFill>
                <a:effectLst/>
                <a:latin typeface="+mn-lt"/>
                <a:ea typeface="+mn-ea"/>
                <a:cs typeface="+mn-cs"/>
              </a:rPr>
              <a:t>N⟩is</a:t>
            </a:r>
            <a:r>
              <a:rPr lang="en-GB" sz="1200" kern="1200" dirty="0">
                <a:solidFill>
                  <a:schemeClr val="tx1"/>
                </a:solidFill>
                <a:effectLst/>
                <a:latin typeface="+mn-lt"/>
                <a:ea typeface="+mn-ea"/>
                <a:cs typeface="+mn-cs"/>
              </a:rPr>
              <a:t> the average number of atoms in a cluster.</a:t>
            </a:r>
          </a:p>
          <a:p>
            <a:endParaRPr lang="en-US" dirty="0"/>
          </a:p>
        </p:txBody>
      </p:sp>
      <p:sp>
        <p:nvSpPr>
          <p:cNvPr id="4" name="Slide Number Placeholder 3">
            <a:extLst>
              <a:ext uri="{FF2B5EF4-FFF2-40B4-BE49-F238E27FC236}">
                <a16:creationId xmlns:a16="http://schemas.microsoft.com/office/drawing/2014/main" id="{2720782E-FDDF-9499-7A77-87D1C211337F}"/>
              </a:ext>
            </a:extLst>
          </p:cNvPr>
          <p:cNvSpPr>
            <a:spLocks noGrp="1"/>
          </p:cNvSpPr>
          <p:nvPr>
            <p:ph type="sldNum" sz="quarter" idx="5"/>
          </p:nvPr>
        </p:nvSpPr>
        <p:spPr/>
        <p:txBody>
          <a:bodyPr/>
          <a:lstStyle/>
          <a:p>
            <a:fld id="{7DECAD8D-F8BE-8142-A593-10B82155D99A}" type="slidenum">
              <a:rPr lang="en-US" smtClean="0"/>
              <a:t>7</a:t>
            </a:fld>
            <a:endParaRPr lang="en-US"/>
          </a:p>
        </p:txBody>
      </p:sp>
    </p:spTree>
    <p:extLst>
      <p:ext uri="{BB962C8B-B14F-4D97-AF65-F5344CB8AC3E}">
        <p14:creationId xmlns:p14="http://schemas.microsoft.com/office/powerpoint/2010/main" val="13596820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A0666E1-37AB-3D4C-B8CD-4A6AA6B0AB9F}" type="slidenum">
              <a:rPr lang="en-US" smtClean="0"/>
              <a:t>10</a:t>
            </a:fld>
            <a:endParaRPr lang="en-US"/>
          </a:p>
        </p:txBody>
      </p:sp>
    </p:spTree>
    <p:extLst>
      <p:ext uri="{BB962C8B-B14F-4D97-AF65-F5344CB8AC3E}">
        <p14:creationId xmlns:p14="http://schemas.microsoft.com/office/powerpoint/2010/main" val="41418248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997D0-4BC5-2D69-5166-9F562A7821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52F998-EA48-EF2D-2AD7-56EB27828DE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1A8AADD-9C92-936B-9DC8-BCABEEFCC7FF}"/>
              </a:ext>
            </a:extLst>
          </p:cNvPr>
          <p:cNvSpPr>
            <a:spLocks noGrp="1"/>
          </p:cNvSpPr>
          <p:nvPr>
            <p:ph type="body" idx="1"/>
          </p:nvPr>
        </p:nvSpPr>
        <p:spPr/>
        <p:txBody>
          <a:bodyPr/>
          <a:lstStyle/>
          <a:p>
            <a:r>
              <a:rPr lang="en-US" dirty="0"/>
              <a:t>Laser field primarily acts on the electrons since the methane has q=Ze compared to q=e for electrons so the electron response time is much faster to the laser (as they are singly charged). Electrons escape if their potential exceeds the cluster potential. Coulomb expansion effect visible in vacuum, not sure if it will be the case in plasma.</a:t>
            </a:r>
          </a:p>
          <a:p>
            <a:endParaRPr lang="en-US" dirty="0"/>
          </a:p>
          <a:p>
            <a:r>
              <a:rPr lang="en-US" dirty="0"/>
              <a:t>Field ionization - Strong electric field lowers an atom’s internal Coulomb potential barrier</a:t>
            </a:r>
          </a:p>
          <a:p>
            <a:endParaRPr lang="en-US" dirty="0"/>
          </a:p>
          <a:p>
            <a:r>
              <a:rPr lang="en-US" dirty="0"/>
              <a:t>Tunnel ionization – Intense electric field drastically tilts and narrows the potential barrier, allowing an electron to quantum-mechanically tunnel through it</a:t>
            </a:r>
          </a:p>
        </p:txBody>
      </p:sp>
      <p:sp>
        <p:nvSpPr>
          <p:cNvPr id="4" name="Slide Number Placeholder 3">
            <a:extLst>
              <a:ext uri="{FF2B5EF4-FFF2-40B4-BE49-F238E27FC236}">
                <a16:creationId xmlns:a16="http://schemas.microsoft.com/office/drawing/2014/main" id="{0B3D9683-CE2E-685C-A01D-AD3E4538B304}"/>
              </a:ext>
            </a:extLst>
          </p:cNvPr>
          <p:cNvSpPr>
            <a:spLocks noGrp="1"/>
          </p:cNvSpPr>
          <p:nvPr>
            <p:ph type="sldNum" sz="quarter" idx="5"/>
          </p:nvPr>
        </p:nvSpPr>
        <p:spPr/>
        <p:txBody>
          <a:bodyPr/>
          <a:lstStyle/>
          <a:p>
            <a:fld id="{2A0666E1-37AB-3D4C-B8CD-4A6AA6B0AB9F}" type="slidenum">
              <a:rPr lang="en-US" smtClean="0"/>
              <a:t>11</a:t>
            </a:fld>
            <a:endParaRPr lang="en-US"/>
          </a:p>
        </p:txBody>
      </p:sp>
    </p:spTree>
    <p:extLst>
      <p:ext uri="{BB962C8B-B14F-4D97-AF65-F5344CB8AC3E}">
        <p14:creationId xmlns:p14="http://schemas.microsoft.com/office/powerpoint/2010/main" val="39445938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EC254-1C8F-9813-78A5-FE24073E5D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191B42-2D64-07E9-F14A-62D4CCB58F6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70A0726-6CBA-EE01-9E46-76D002B760B8}"/>
              </a:ext>
            </a:extLst>
          </p:cNvPr>
          <p:cNvSpPr>
            <a:spLocks noGrp="1"/>
          </p:cNvSpPr>
          <p:nvPr>
            <p:ph type="body" idx="1"/>
          </p:nvPr>
        </p:nvSpPr>
        <p:spPr/>
        <p:txBody>
          <a:bodyPr/>
          <a:lstStyle/>
          <a:p>
            <a:r>
              <a:rPr lang="en-US" dirty="0"/>
              <a:t>Focusing in on only part of the </a:t>
            </a:r>
            <a:r>
              <a:rPr lang="en-US" dirty="0" err="1"/>
              <a:t>prepulse</a:t>
            </a:r>
            <a:r>
              <a:rPr lang="en-US" dirty="0"/>
              <a:t> where the cluster gets ionized. </a:t>
            </a:r>
            <a:r>
              <a:rPr lang="en-GB" b="0" dirty="0"/>
              <a:t>Barrier Suppression Ionisation threshold — the laser intensity (or electric-field strength) at which the laser field becomes strong enough to suppress the Coulomb potential barrier binding an electron, allowing it to escape without tunnelling.</a:t>
            </a:r>
            <a:endParaRPr lang="en-US" b="0" dirty="0"/>
          </a:p>
        </p:txBody>
      </p:sp>
      <p:sp>
        <p:nvSpPr>
          <p:cNvPr id="4" name="Slide Number Placeholder 3">
            <a:extLst>
              <a:ext uri="{FF2B5EF4-FFF2-40B4-BE49-F238E27FC236}">
                <a16:creationId xmlns:a16="http://schemas.microsoft.com/office/drawing/2014/main" id="{C8ABB6CB-10AA-84CD-1A2B-5BA4E2FC72D2}"/>
              </a:ext>
            </a:extLst>
          </p:cNvPr>
          <p:cNvSpPr>
            <a:spLocks noGrp="1"/>
          </p:cNvSpPr>
          <p:nvPr>
            <p:ph type="sldNum" sz="quarter" idx="5"/>
          </p:nvPr>
        </p:nvSpPr>
        <p:spPr/>
        <p:txBody>
          <a:bodyPr/>
          <a:lstStyle/>
          <a:p>
            <a:fld id="{7DECAD8D-F8BE-8142-A593-10B82155D99A}" type="slidenum">
              <a:rPr lang="en-US" smtClean="0"/>
              <a:t>12</a:t>
            </a:fld>
            <a:endParaRPr lang="en-US"/>
          </a:p>
        </p:txBody>
      </p:sp>
    </p:spTree>
    <p:extLst>
      <p:ext uri="{BB962C8B-B14F-4D97-AF65-F5344CB8AC3E}">
        <p14:creationId xmlns:p14="http://schemas.microsoft.com/office/powerpoint/2010/main" val="21931312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73CD8-3845-ACF0-5775-83AB51C2A4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F47035-33B2-795B-380F-D862F50369F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5A972B8-FD2E-54A8-461C-448BE08DF7BA}"/>
              </a:ext>
            </a:extLst>
          </p:cNvPr>
          <p:cNvSpPr>
            <a:spLocks noGrp="1"/>
          </p:cNvSpPr>
          <p:nvPr>
            <p:ph type="body" idx="1"/>
          </p:nvPr>
        </p:nvSpPr>
        <p:spPr/>
        <p:txBody>
          <a:bodyPr/>
          <a:lstStyle/>
          <a:p>
            <a:r>
              <a:rPr lang="en-US" dirty="0"/>
              <a:t>Temperature of 40eV. Ukin is total kinetic energy of all particles in simulation, summed over particle weights (gamma-1)mc^2. Simulation is at 130nc, cluster radius 50nm.</a:t>
            </a:r>
          </a:p>
        </p:txBody>
      </p:sp>
      <p:sp>
        <p:nvSpPr>
          <p:cNvPr id="4" name="Slide Number Placeholder 3">
            <a:extLst>
              <a:ext uri="{FF2B5EF4-FFF2-40B4-BE49-F238E27FC236}">
                <a16:creationId xmlns:a16="http://schemas.microsoft.com/office/drawing/2014/main" id="{6D4E81D5-AD98-391B-F607-5E4C27E9FBE0}"/>
              </a:ext>
            </a:extLst>
          </p:cNvPr>
          <p:cNvSpPr>
            <a:spLocks noGrp="1"/>
          </p:cNvSpPr>
          <p:nvPr>
            <p:ph type="sldNum" sz="quarter" idx="5"/>
          </p:nvPr>
        </p:nvSpPr>
        <p:spPr/>
        <p:txBody>
          <a:bodyPr/>
          <a:lstStyle/>
          <a:p>
            <a:fld id="{7DECAD8D-F8BE-8142-A593-10B82155D99A}" type="slidenum">
              <a:rPr lang="en-US" smtClean="0"/>
              <a:t>13</a:t>
            </a:fld>
            <a:endParaRPr lang="en-US"/>
          </a:p>
        </p:txBody>
      </p:sp>
    </p:spTree>
    <p:extLst>
      <p:ext uri="{BB962C8B-B14F-4D97-AF65-F5344CB8AC3E}">
        <p14:creationId xmlns:p14="http://schemas.microsoft.com/office/powerpoint/2010/main" val="41493899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1DA90-BE3B-A1B6-B6D3-2E71816C17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155323-4D62-F6FC-ADF7-60C4B15F968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F56BA26-402C-EBB9-BC91-F41A68411E16}"/>
              </a:ext>
            </a:extLst>
          </p:cNvPr>
          <p:cNvSpPr>
            <a:spLocks noGrp="1"/>
          </p:cNvSpPr>
          <p:nvPr>
            <p:ph type="body" idx="1"/>
          </p:nvPr>
        </p:nvSpPr>
        <p:spPr/>
        <p:txBody>
          <a:bodyPr/>
          <a:lstStyle/>
          <a:p>
            <a:r>
              <a:rPr lang="en-US" dirty="0"/>
              <a:t>After some adaptations have been made to the setup (e.g. a slight decrease in number density, smaller box size). Lower number density has reduced Ukin from what I had before. Temperature increased potentially because electrons now receive higher energy each from the laser pulse (as there is less of them). There is also a smaller cluster</a:t>
            </a:r>
          </a:p>
        </p:txBody>
      </p:sp>
      <p:sp>
        <p:nvSpPr>
          <p:cNvPr id="4" name="Slide Number Placeholder 3">
            <a:extLst>
              <a:ext uri="{FF2B5EF4-FFF2-40B4-BE49-F238E27FC236}">
                <a16:creationId xmlns:a16="http://schemas.microsoft.com/office/drawing/2014/main" id="{62863079-39ED-2A73-F533-74CEE741FF7F}"/>
              </a:ext>
            </a:extLst>
          </p:cNvPr>
          <p:cNvSpPr>
            <a:spLocks noGrp="1"/>
          </p:cNvSpPr>
          <p:nvPr>
            <p:ph type="sldNum" sz="quarter" idx="5"/>
          </p:nvPr>
        </p:nvSpPr>
        <p:spPr/>
        <p:txBody>
          <a:bodyPr/>
          <a:lstStyle/>
          <a:p>
            <a:fld id="{7DECAD8D-F8BE-8142-A593-10B82155D99A}" type="slidenum">
              <a:rPr lang="en-US" smtClean="0"/>
              <a:t>14</a:t>
            </a:fld>
            <a:endParaRPr lang="en-US"/>
          </a:p>
        </p:txBody>
      </p:sp>
    </p:spTree>
    <p:extLst>
      <p:ext uri="{BB962C8B-B14F-4D97-AF65-F5344CB8AC3E}">
        <p14:creationId xmlns:p14="http://schemas.microsoft.com/office/powerpoint/2010/main" val="35066011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91 </a:t>
            </a:r>
            <a:r>
              <a:rPr lang="en-US" dirty="0" err="1"/>
              <a:t>ncrit</a:t>
            </a:r>
            <a:r>
              <a:rPr lang="en-US" dirty="0"/>
              <a:t> obtained by assuming cluster is liquid methane density roughly</a:t>
            </a:r>
          </a:p>
        </p:txBody>
      </p:sp>
      <p:sp>
        <p:nvSpPr>
          <p:cNvPr id="4" name="Slide Number Placeholder 3"/>
          <p:cNvSpPr>
            <a:spLocks noGrp="1"/>
          </p:cNvSpPr>
          <p:nvPr>
            <p:ph type="sldNum" sz="quarter" idx="5"/>
          </p:nvPr>
        </p:nvSpPr>
        <p:spPr/>
        <p:txBody>
          <a:bodyPr/>
          <a:lstStyle/>
          <a:p>
            <a:fld id="{7DECAD8D-F8BE-8142-A593-10B82155D99A}" type="slidenum">
              <a:rPr lang="en-US" smtClean="0"/>
              <a:t>15</a:t>
            </a:fld>
            <a:endParaRPr lang="en-US"/>
          </a:p>
        </p:txBody>
      </p:sp>
    </p:spTree>
    <p:extLst>
      <p:ext uri="{BB962C8B-B14F-4D97-AF65-F5344CB8AC3E}">
        <p14:creationId xmlns:p14="http://schemas.microsoft.com/office/powerpoint/2010/main" val="32254951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7905-FD62-4FA8-8688-74B38400B9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C67551-184A-0C16-FA7A-3CA89CDF385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4164067-111D-0BFB-040B-1D62B5E99B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35CE6D-AE10-746B-72AC-EEBB7B90D9C2}"/>
              </a:ext>
            </a:extLst>
          </p:cNvPr>
          <p:cNvSpPr>
            <a:spLocks noGrp="1"/>
          </p:cNvSpPr>
          <p:nvPr>
            <p:ph type="sldNum" sz="quarter" idx="5"/>
          </p:nvPr>
        </p:nvSpPr>
        <p:spPr/>
        <p:txBody>
          <a:bodyPr/>
          <a:lstStyle/>
          <a:p>
            <a:fld id="{7DECAD8D-F8BE-8142-A593-10B82155D99A}" type="slidenum">
              <a:rPr lang="en-US" smtClean="0"/>
              <a:t>16</a:t>
            </a:fld>
            <a:endParaRPr lang="en-US"/>
          </a:p>
        </p:txBody>
      </p:sp>
    </p:spTree>
    <p:extLst>
      <p:ext uri="{BB962C8B-B14F-4D97-AF65-F5344CB8AC3E}">
        <p14:creationId xmlns:p14="http://schemas.microsoft.com/office/powerpoint/2010/main" val="41007311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b="0" dirty="0"/>
              <a:t>Debye shielding is the tendency of a plasma to screen out an electric charge or electric field over a short distance because the mobile plasma particles rearrange themselves.</a:t>
            </a:r>
            <a:endParaRPr lang="en-US" b="0" dirty="0"/>
          </a:p>
        </p:txBody>
      </p:sp>
      <p:sp>
        <p:nvSpPr>
          <p:cNvPr id="4" name="Slide Number Placeholder 3"/>
          <p:cNvSpPr>
            <a:spLocks noGrp="1"/>
          </p:cNvSpPr>
          <p:nvPr>
            <p:ph type="sldNum" sz="quarter" idx="5"/>
          </p:nvPr>
        </p:nvSpPr>
        <p:spPr/>
        <p:txBody>
          <a:bodyPr/>
          <a:lstStyle/>
          <a:p>
            <a:fld id="{2A0666E1-37AB-3D4C-B8CD-4A6AA6B0AB9F}" type="slidenum">
              <a:rPr lang="en-US" smtClean="0"/>
              <a:t>18</a:t>
            </a:fld>
            <a:endParaRPr lang="en-US"/>
          </a:p>
        </p:txBody>
      </p:sp>
    </p:spTree>
    <p:extLst>
      <p:ext uri="{BB962C8B-B14F-4D97-AF65-F5344CB8AC3E}">
        <p14:creationId xmlns:p14="http://schemas.microsoft.com/office/powerpoint/2010/main" val="39340982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6839C-A2C3-CADD-BB84-CA32011C76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23F20-7B4A-C11C-5EB5-E39923F5C89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0F342ED-F921-5866-14CD-511BD91DE0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42387B-EB28-3F1D-BF2D-BEA69FABDC33}"/>
              </a:ext>
            </a:extLst>
          </p:cNvPr>
          <p:cNvSpPr>
            <a:spLocks noGrp="1"/>
          </p:cNvSpPr>
          <p:nvPr>
            <p:ph type="sldNum" sz="quarter" idx="5"/>
          </p:nvPr>
        </p:nvSpPr>
        <p:spPr/>
        <p:txBody>
          <a:bodyPr/>
          <a:lstStyle/>
          <a:p>
            <a:fld id="{7DECAD8D-F8BE-8142-A593-10B82155D99A}" type="slidenum">
              <a:rPr lang="en-US" smtClean="0"/>
              <a:t>24</a:t>
            </a:fld>
            <a:endParaRPr lang="en-US"/>
          </a:p>
        </p:txBody>
      </p:sp>
    </p:spTree>
    <p:extLst>
      <p:ext uri="{BB962C8B-B14F-4D97-AF65-F5344CB8AC3E}">
        <p14:creationId xmlns:p14="http://schemas.microsoft.com/office/powerpoint/2010/main" val="3677974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23A9C-E5A1-EE56-549E-EE9A437ABE7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FC12D72-1083-5E3F-2D9A-EE04346802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22C9D53-DD82-2C38-6E1D-049741EBF8F1}"/>
              </a:ext>
            </a:extLst>
          </p:cNvPr>
          <p:cNvSpPr>
            <a:spLocks noGrp="1"/>
          </p:cNvSpPr>
          <p:nvPr>
            <p:ph type="dt" sz="half" idx="10"/>
          </p:nvPr>
        </p:nvSpPr>
        <p:spPr/>
        <p:txBody>
          <a:bodyPr/>
          <a:lstStyle/>
          <a:p>
            <a:fld id="{921A0E1D-7C35-594C-9EB3-3CF685C841F6}" type="datetimeFigureOut">
              <a:rPr lang="en-US" smtClean="0"/>
              <a:t>8/17/26</a:t>
            </a:fld>
            <a:endParaRPr lang="en-US"/>
          </a:p>
        </p:txBody>
      </p:sp>
      <p:sp>
        <p:nvSpPr>
          <p:cNvPr id="5" name="Footer Placeholder 4">
            <a:extLst>
              <a:ext uri="{FF2B5EF4-FFF2-40B4-BE49-F238E27FC236}">
                <a16:creationId xmlns:a16="http://schemas.microsoft.com/office/drawing/2014/main" id="{477B73F5-FC18-9854-7902-C6361B5999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03DA6A-DDBA-D367-B399-45116856FB8D}"/>
              </a:ext>
            </a:extLst>
          </p:cNvPr>
          <p:cNvSpPr>
            <a:spLocks noGrp="1"/>
          </p:cNvSpPr>
          <p:nvPr>
            <p:ph type="sldNum" sz="quarter" idx="12"/>
          </p:nvPr>
        </p:nvSpPr>
        <p:spPr/>
        <p:txBody>
          <a:bodyPr/>
          <a:lstStyle/>
          <a:p>
            <a:fld id="{AC9CA675-1ACD-AF4A-B1EB-EF3C412169E8}" type="slidenum">
              <a:rPr lang="en-US" smtClean="0"/>
              <a:t>‹#›</a:t>
            </a:fld>
            <a:endParaRPr lang="en-US"/>
          </a:p>
        </p:txBody>
      </p:sp>
    </p:spTree>
    <p:extLst>
      <p:ext uri="{BB962C8B-B14F-4D97-AF65-F5344CB8AC3E}">
        <p14:creationId xmlns:p14="http://schemas.microsoft.com/office/powerpoint/2010/main" val="543921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586C2-B472-1222-1789-F8BE977B82C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42CA357-D885-F734-D08B-A502925429E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CFA8996-2C5D-4F24-6B29-38A04793A5C8}"/>
              </a:ext>
            </a:extLst>
          </p:cNvPr>
          <p:cNvSpPr>
            <a:spLocks noGrp="1"/>
          </p:cNvSpPr>
          <p:nvPr>
            <p:ph type="dt" sz="half" idx="10"/>
          </p:nvPr>
        </p:nvSpPr>
        <p:spPr/>
        <p:txBody>
          <a:bodyPr/>
          <a:lstStyle/>
          <a:p>
            <a:fld id="{921A0E1D-7C35-594C-9EB3-3CF685C841F6}" type="datetimeFigureOut">
              <a:rPr lang="en-US" smtClean="0"/>
              <a:t>8/17/26</a:t>
            </a:fld>
            <a:endParaRPr lang="en-US"/>
          </a:p>
        </p:txBody>
      </p:sp>
      <p:sp>
        <p:nvSpPr>
          <p:cNvPr id="5" name="Footer Placeholder 4">
            <a:extLst>
              <a:ext uri="{FF2B5EF4-FFF2-40B4-BE49-F238E27FC236}">
                <a16:creationId xmlns:a16="http://schemas.microsoft.com/office/drawing/2014/main" id="{63126C98-D83F-9D0F-FE3F-D715B52706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1FD643-B0EB-1DC2-7C94-1C59A8783EA7}"/>
              </a:ext>
            </a:extLst>
          </p:cNvPr>
          <p:cNvSpPr>
            <a:spLocks noGrp="1"/>
          </p:cNvSpPr>
          <p:nvPr>
            <p:ph type="sldNum" sz="quarter" idx="12"/>
          </p:nvPr>
        </p:nvSpPr>
        <p:spPr/>
        <p:txBody>
          <a:bodyPr/>
          <a:lstStyle/>
          <a:p>
            <a:fld id="{AC9CA675-1ACD-AF4A-B1EB-EF3C412169E8}" type="slidenum">
              <a:rPr lang="en-US" smtClean="0"/>
              <a:t>‹#›</a:t>
            </a:fld>
            <a:endParaRPr lang="en-US"/>
          </a:p>
        </p:txBody>
      </p:sp>
    </p:spTree>
    <p:extLst>
      <p:ext uri="{BB962C8B-B14F-4D97-AF65-F5344CB8AC3E}">
        <p14:creationId xmlns:p14="http://schemas.microsoft.com/office/powerpoint/2010/main" val="543809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860AB-B56D-A480-E281-93CBD76F180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E0810F0-9901-AC75-8D77-6943BDC0896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3909B91-2EF7-7878-E825-B2BC7FDB95B8}"/>
              </a:ext>
            </a:extLst>
          </p:cNvPr>
          <p:cNvSpPr>
            <a:spLocks noGrp="1"/>
          </p:cNvSpPr>
          <p:nvPr>
            <p:ph type="dt" sz="half" idx="10"/>
          </p:nvPr>
        </p:nvSpPr>
        <p:spPr/>
        <p:txBody>
          <a:bodyPr/>
          <a:lstStyle/>
          <a:p>
            <a:fld id="{921A0E1D-7C35-594C-9EB3-3CF685C841F6}" type="datetimeFigureOut">
              <a:rPr lang="en-US" smtClean="0"/>
              <a:t>8/17/26</a:t>
            </a:fld>
            <a:endParaRPr lang="en-US"/>
          </a:p>
        </p:txBody>
      </p:sp>
      <p:sp>
        <p:nvSpPr>
          <p:cNvPr id="5" name="Footer Placeholder 4">
            <a:extLst>
              <a:ext uri="{FF2B5EF4-FFF2-40B4-BE49-F238E27FC236}">
                <a16:creationId xmlns:a16="http://schemas.microsoft.com/office/drawing/2014/main" id="{6C311651-0746-9440-A176-FC62F617B8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53E3A4-1115-7304-94CB-BC95587CB6C0}"/>
              </a:ext>
            </a:extLst>
          </p:cNvPr>
          <p:cNvSpPr>
            <a:spLocks noGrp="1"/>
          </p:cNvSpPr>
          <p:nvPr>
            <p:ph type="sldNum" sz="quarter" idx="12"/>
          </p:nvPr>
        </p:nvSpPr>
        <p:spPr/>
        <p:txBody>
          <a:bodyPr/>
          <a:lstStyle/>
          <a:p>
            <a:fld id="{AC9CA675-1ACD-AF4A-B1EB-EF3C412169E8}" type="slidenum">
              <a:rPr lang="en-US" smtClean="0"/>
              <a:t>‹#›</a:t>
            </a:fld>
            <a:endParaRPr lang="en-US"/>
          </a:p>
        </p:txBody>
      </p:sp>
    </p:spTree>
    <p:extLst>
      <p:ext uri="{BB962C8B-B14F-4D97-AF65-F5344CB8AC3E}">
        <p14:creationId xmlns:p14="http://schemas.microsoft.com/office/powerpoint/2010/main" val="3118424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63CB7-2D87-1CEF-9729-14FAE910728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0FF5264-DE12-507F-0C30-FE7E8E3BCC0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F870C072-2CCE-4D72-CFC8-1480B17145F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15685AE-2AAF-6BDE-025F-A8CA7DC8E9E4}"/>
              </a:ext>
            </a:extLst>
          </p:cNvPr>
          <p:cNvSpPr>
            <a:spLocks noGrp="1"/>
          </p:cNvSpPr>
          <p:nvPr>
            <p:ph type="dt" sz="half" idx="10"/>
          </p:nvPr>
        </p:nvSpPr>
        <p:spPr/>
        <p:txBody>
          <a:bodyPr/>
          <a:lstStyle/>
          <a:p>
            <a:fld id="{921A0E1D-7C35-594C-9EB3-3CF685C841F6}" type="datetimeFigureOut">
              <a:rPr lang="en-US" smtClean="0"/>
              <a:t>8/17/26</a:t>
            </a:fld>
            <a:endParaRPr lang="en-US"/>
          </a:p>
        </p:txBody>
      </p:sp>
      <p:sp>
        <p:nvSpPr>
          <p:cNvPr id="6" name="Footer Placeholder 5">
            <a:extLst>
              <a:ext uri="{FF2B5EF4-FFF2-40B4-BE49-F238E27FC236}">
                <a16:creationId xmlns:a16="http://schemas.microsoft.com/office/drawing/2014/main" id="{79A447A4-2CBD-D2AB-D067-C473D2AFCF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EC7821-E1A5-AEC8-5E1B-7A38BEEBB561}"/>
              </a:ext>
            </a:extLst>
          </p:cNvPr>
          <p:cNvSpPr>
            <a:spLocks noGrp="1"/>
          </p:cNvSpPr>
          <p:nvPr>
            <p:ph type="sldNum" sz="quarter" idx="12"/>
          </p:nvPr>
        </p:nvSpPr>
        <p:spPr/>
        <p:txBody>
          <a:bodyPr/>
          <a:lstStyle/>
          <a:p>
            <a:fld id="{AC9CA675-1ACD-AF4A-B1EB-EF3C412169E8}" type="slidenum">
              <a:rPr lang="en-US" smtClean="0"/>
              <a:t>‹#›</a:t>
            </a:fld>
            <a:endParaRPr lang="en-US"/>
          </a:p>
        </p:txBody>
      </p:sp>
    </p:spTree>
    <p:extLst>
      <p:ext uri="{BB962C8B-B14F-4D97-AF65-F5344CB8AC3E}">
        <p14:creationId xmlns:p14="http://schemas.microsoft.com/office/powerpoint/2010/main" val="410173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89863-04C8-13E2-8A48-D3026732220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B4750F4-C8B9-12C0-9B61-C4015209F3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1D1D2F3-85A5-E0FD-BB0B-EC020C86C06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F0D34D72-8772-A28D-FF76-E77A6B90E8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195B595-64AF-4392-03EF-7D52C34554D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D04467B8-FAC3-2CD6-AE83-F20A8F0FC0EE}"/>
              </a:ext>
            </a:extLst>
          </p:cNvPr>
          <p:cNvSpPr>
            <a:spLocks noGrp="1"/>
          </p:cNvSpPr>
          <p:nvPr>
            <p:ph type="dt" sz="half" idx="10"/>
          </p:nvPr>
        </p:nvSpPr>
        <p:spPr/>
        <p:txBody>
          <a:bodyPr/>
          <a:lstStyle/>
          <a:p>
            <a:fld id="{921A0E1D-7C35-594C-9EB3-3CF685C841F6}" type="datetimeFigureOut">
              <a:rPr lang="en-US" smtClean="0"/>
              <a:t>8/17/26</a:t>
            </a:fld>
            <a:endParaRPr lang="en-US"/>
          </a:p>
        </p:txBody>
      </p:sp>
      <p:sp>
        <p:nvSpPr>
          <p:cNvPr id="8" name="Footer Placeholder 7">
            <a:extLst>
              <a:ext uri="{FF2B5EF4-FFF2-40B4-BE49-F238E27FC236}">
                <a16:creationId xmlns:a16="http://schemas.microsoft.com/office/drawing/2014/main" id="{C3C9F4DC-4015-1098-7B8B-1830AB86AD5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1459853-9ABB-3C72-E590-73ABA2BC96A9}"/>
              </a:ext>
            </a:extLst>
          </p:cNvPr>
          <p:cNvSpPr>
            <a:spLocks noGrp="1"/>
          </p:cNvSpPr>
          <p:nvPr>
            <p:ph type="sldNum" sz="quarter" idx="12"/>
          </p:nvPr>
        </p:nvSpPr>
        <p:spPr/>
        <p:txBody>
          <a:bodyPr/>
          <a:lstStyle/>
          <a:p>
            <a:fld id="{AC9CA675-1ACD-AF4A-B1EB-EF3C412169E8}" type="slidenum">
              <a:rPr lang="en-US" smtClean="0"/>
              <a:t>‹#›</a:t>
            </a:fld>
            <a:endParaRPr lang="en-US"/>
          </a:p>
        </p:txBody>
      </p:sp>
    </p:spTree>
    <p:extLst>
      <p:ext uri="{BB962C8B-B14F-4D97-AF65-F5344CB8AC3E}">
        <p14:creationId xmlns:p14="http://schemas.microsoft.com/office/powerpoint/2010/main" val="14823550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8BCC0-372A-C545-0610-3FDB5B394DD8}"/>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CB054431-AEE2-FE12-8B06-CC6A043BDF9F}"/>
              </a:ext>
            </a:extLst>
          </p:cNvPr>
          <p:cNvSpPr>
            <a:spLocks noGrp="1"/>
          </p:cNvSpPr>
          <p:nvPr>
            <p:ph type="dt" sz="half" idx="10"/>
          </p:nvPr>
        </p:nvSpPr>
        <p:spPr/>
        <p:txBody>
          <a:bodyPr/>
          <a:lstStyle/>
          <a:p>
            <a:fld id="{921A0E1D-7C35-594C-9EB3-3CF685C841F6}" type="datetimeFigureOut">
              <a:rPr lang="en-US" smtClean="0"/>
              <a:t>8/17/26</a:t>
            </a:fld>
            <a:endParaRPr lang="en-US"/>
          </a:p>
        </p:txBody>
      </p:sp>
      <p:sp>
        <p:nvSpPr>
          <p:cNvPr id="4" name="Footer Placeholder 3">
            <a:extLst>
              <a:ext uri="{FF2B5EF4-FFF2-40B4-BE49-F238E27FC236}">
                <a16:creationId xmlns:a16="http://schemas.microsoft.com/office/drawing/2014/main" id="{279246B1-4338-D6FF-7A94-63EF3F5CF46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E2E92B5-6115-6A21-4260-685C19E4415C}"/>
              </a:ext>
            </a:extLst>
          </p:cNvPr>
          <p:cNvSpPr>
            <a:spLocks noGrp="1"/>
          </p:cNvSpPr>
          <p:nvPr>
            <p:ph type="sldNum" sz="quarter" idx="12"/>
          </p:nvPr>
        </p:nvSpPr>
        <p:spPr/>
        <p:txBody>
          <a:bodyPr/>
          <a:lstStyle/>
          <a:p>
            <a:fld id="{AC9CA675-1ACD-AF4A-B1EB-EF3C412169E8}" type="slidenum">
              <a:rPr lang="en-US" smtClean="0"/>
              <a:t>‹#›</a:t>
            </a:fld>
            <a:endParaRPr lang="en-US"/>
          </a:p>
        </p:txBody>
      </p:sp>
    </p:spTree>
    <p:extLst>
      <p:ext uri="{BB962C8B-B14F-4D97-AF65-F5344CB8AC3E}">
        <p14:creationId xmlns:p14="http://schemas.microsoft.com/office/powerpoint/2010/main" val="539548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11C42B-B69C-E3E0-865C-478197145108}"/>
              </a:ext>
            </a:extLst>
          </p:cNvPr>
          <p:cNvSpPr>
            <a:spLocks noGrp="1"/>
          </p:cNvSpPr>
          <p:nvPr>
            <p:ph type="dt" sz="half" idx="10"/>
          </p:nvPr>
        </p:nvSpPr>
        <p:spPr/>
        <p:txBody>
          <a:bodyPr/>
          <a:lstStyle/>
          <a:p>
            <a:fld id="{921A0E1D-7C35-594C-9EB3-3CF685C841F6}" type="datetimeFigureOut">
              <a:rPr lang="en-US" smtClean="0"/>
              <a:t>8/17/26</a:t>
            </a:fld>
            <a:endParaRPr lang="en-US"/>
          </a:p>
        </p:txBody>
      </p:sp>
      <p:sp>
        <p:nvSpPr>
          <p:cNvPr id="3" name="Footer Placeholder 2">
            <a:extLst>
              <a:ext uri="{FF2B5EF4-FFF2-40B4-BE49-F238E27FC236}">
                <a16:creationId xmlns:a16="http://schemas.microsoft.com/office/drawing/2014/main" id="{7D214198-4644-BD31-6D3F-FFD6808C56F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90EB41D-13C0-37D8-CB38-D5959F256D86}"/>
              </a:ext>
            </a:extLst>
          </p:cNvPr>
          <p:cNvSpPr>
            <a:spLocks noGrp="1"/>
          </p:cNvSpPr>
          <p:nvPr>
            <p:ph type="sldNum" sz="quarter" idx="12"/>
          </p:nvPr>
        </p:nvSpPr>
        <p:spPr/>
        <p:txBody>
          <a:bodyPr/>
          <a:lstStyle/>
          <a:p>
            <a:fld id="{AC9CA675-1ACD-AF4A-B1EB-EF3C412169E8}" type="slidenum">
              <a:rPr lang="en-US" smtClean="0"/>
              <a:t>‹#›</a:t>
            </a:fld>
            <a:endParaRPr lang="en-US"/>
          </a:p>
        </p:txBody>
      </p:sp>
    </p:spTree>
    <p:extLst>
      <p:ext uri="{BB962C8B-B14F-4D97-AF65-F5344CB8AC3E}">
        <p14:creationId xmlns:p14="http://schemas.microsoft.com/office/powerpoint/2010/main" val="1659006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53FD1-C2B0-835E-5CBA-CE09812E185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3A8D6B06-ACB6-7765-2510-6924739D4E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5C40272-D77A-9E6D-0144-4265E19866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7DA2D05-0D44-0E72-227B-5B920CB5CD78}"/>
              </a:ext>
            </a:extLst>
          </p:cNvPr>
          <p:cNvSpPr>
            <a:spLocks noGrp="1"/>
          </p:cNvSpPr>
          <p:nvPr>
            <p:ph type="dt" sz="half" idx="10"/>
          </p:nvPr>
        </p:nvSpPr>
        <p:spPr/>
        <p:txBody>
          <a:bodyPr/>
          <a:lstStyle/>
          <a:p>
            <a:fld id="{921A0E1D-7C35-594C-9EB3-3CF685C841F6}" type="datetimeFigureOut">
              <a:rPr lang="en-US" smtClean="0"/>
              <a:t>8/17/26</a:t>
            </a:fld>
            <a:endParaRPr lang="en-US"/>
          </a:p>
        </p:txBody>
      </p:sp>
      <p:sp>
        <p:nvSpPr>
          <p:cNvPr id="6" name="Footer Placeholder 5">
            <a:extLst>
              <a:ext uri="{FF2B5EF4-FFF2-40B4-BE49-F238E27FC236}">
                <a16:creationId xmlns:a16="http://schemas.microsoft.com/office/drawing/2014/main" id="{01205570-C487-3CC1-AAC8-31553944AF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AE5425-655A-A9F8-1BFA-25D8887ED360}"/>
              </a:ext>
            </a:extLst>
          </p:cNvPr>
          <p:cNvSpPr>
            <a:spLocks noGrp="1"/>
          </p:cNvSpPr>
          <p:nvPr>
            <p:ph type="sldNum" sz="quarter" idx="12"/>
          </p:nvPr>
        </p:nvSpPr>
        <p:spPr/>
        <p:txBody>
          <a:bodyPr/>
          <a:lstStyle/>
          <a:p>
            <a:fld id="{AC9CA675-1ACD-AF4A-B1EB-EF3C412169E8}" type="slidenum">
              <a:rPr lang="en-US" smtClean="0"/>
              <a:t>‹#›</a:t>
            </a:fld>
            <a:endParaRPr lang="en-US"/>
          </a:p>
        </p:txBody>
      </p:sp>
    </p:spTree>
    <p:extLst>
      <p:ext uri="{BB962C8B-B14F-4D97-AF65-F5344CB8AC3E}">
        <p14:creationId xmlns:p14="http://schemas.microsoft.com/office/powerpoint/2010/main" val="4221925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D3DBA-2A2A-B69C-BFF0-6239259BDEF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0E180CA-3ACD-4CF0-92D4-18A38D3D4A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F3BA01B-4C02-7E2A-0BCF-62C1597213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9D386A9-5EA6-CA1C-5F41-107508845675}"/>
              </a:ext>
            </a:extLst>
          </p:cNvPr>
          <p:cNvSpPr>
            <a:spLocks noGrp="1"/>
          </p:cNvSpPr>
          <p:nvPr>
            <p:ph type="dt" sz="half" idx="10"/>
          </p:nvPr>
        </p:nvSpPr>
        <p:spPr/>
        <p:txBody>
          <a:bodyPr/>
          <a:lstStyle/>
          <a:p>
            <a:fld id="{921A0E1D-7C35-594C-9EB3-3CF685C841F6}" type="datetimeFigureOut">
              <a:rPr lang="en-US" smtClean="0"/>
              <a:t>8/17/26</a:t>
            </a:fld>
            <a:endParaRPr lang="en-US"/>
          </a:p>
        </p:txBody>
      </p:sp>
      <p:sp>
        <p:nvSpPr>
          <p:cNvPr id="6" name="Footer Placeholder 5">
            <a:extLst>
              <a:ext uri="{FF2B5EF4-FFF2-40B4-BE49-F238E27FC236}">
                <a16:creationId xmlns:a16="http://schemas.microsoft.com/office/drawing/2014/main" id="{B1E189E2-5C39-110F-AF50-39F8E2AAC3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7C2141-8261-022A-F8F5-7BD26C394A89}"/>
              </a:ext>
            </a:extLst>
          </p:cNvPr>
          <p:cNvSpPr>
            <a:spLocks noGrp="1"/>
          </p:cNvSpPr>
          <p:nvPr>
            <p:ph type="sldNum" sz="quarter" idx="12"/>
          </p:nvPr>
        </p:nvSpPr>
        <p:spPr/>
        <p:txBody>
          <a:bodyPr/>
          <a:lstStyle/>
          <a:p>
            <a:fld id="{AC9CA675-1ACD-AF4A-B1EB-EF3C412169E8}" type="slidenum">
              <a:rPr lang="en-US" smtClean="0"/>
              <a:t>‹#›</a:t>
            </a:fld>
            <a:endParaRPr lang="en-US"/>
          </a:p>
        </p:txBody>
      </p:sp>
    </p:spTree>
    <p:extLst>
      <p:ext uri="{BB962C8B-B14F-4D97-AF65-F5344CB8AC3E}">
        <p14:creationId xmlns:p14="http://schemas.microsoft.com/office/powerpoint/2010/main" val="2074636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22043-FFC0-A2EB-477A-A17F116F094D}"/>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971D45C-2A61-3963-DAEF-37B4263E550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34A9E28-129E-F091-243D-C12D0D672DF2}"/>
              </a:ext>
            </a:extLst>
          </p:cNvPr>
          <p:cNvSpPr>
            <a:spLocks noGrp="1"/>
          </p:cNvSpPr>
          <p:nvPr>
            <p:ph type="dt" sz="half" idx="10"/>
          </p:nvPr>
        </p:nvSpPr>
        <p:spPr/>
        <p:txBody>
          <a:bodyPr/>
          <a:lstStyle/>
          <a:p>
            <a:fld id="{921A0E1D-7C35-594C-9EB3-3CF685C841F6}" type="datetimeFigureOut">
              <a:rPr lang="en-US" smtClean="0"/>
              <a:t>8/17/26</a:t>
            </a:fld>
            <a:endParaRPr lang="en-US"/>
          </a:p>
        </p:txBody>
      </p:sp>
      <p:sp>
        <p:nvSpPr>
          <p:cNvPr id="5" name="Footer Placeholder 4">
            <a:extLst>
              <a:ext uri="{FF2B5EF4-FFF2-40B4-BE49-F238E27FC236}">
                <a16:creationId xmlns:a16="http://schemas.microsoft.com/office/drawing/2014/main" id="{DA672C3F-116C-A0AC-89BB-A0888DC6FC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C40142-D229-565B-F5CD-F4202268A184}"/>
              </a:ext>
            </a:extLst>
          </p:cNvPr>
          <p:cNvSpPr>
            <a:spLocks noGrp="1"/>
          </p:cNvSpPr>
          <p:nvPr>
            <p:ph type="sldNum" sz="quarter" idx="12"/>
          </p:nvPr>
        </p:nvSpPr>
        <p:spPr/>
        <p:txBody>
          <a:bodyPr/>
          <a:lstStyle/>
          <a:p>
            <a:fld id="{AC9CA675-1ACD-AF4A-B1EB-EF3C412169E8}" type="slidenum">
              <a:rPr lang="en-US" smtClean="0"/>
              <a:t>‹#›</a:t>
            </a:fld>
            <a:endParaRPr lang="en-US"/>
          </a:p>
        </p:txBody>
      </p:sp>
    </p:spTree>
    <p:extLst>
      <p:ext uri="{BB962C8B-B14F-4D97-AF65-F5344CB8AC3E}">
        <p14:creationId xmlns:p14="http://schemas.microsoft.com/office/powerpoint/2010/main" val="3949885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27E7FD-07FA-9D84-FF64-CFD6C31D925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27A6C7B-6A31-1BD7-1781-7B88AE60862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1C8840E-F899-0FF6-3BB2-045E4A7570F8}"/>
              </a:ext>
            </a:extLst>
          </p:cNvPr>
          <p:cNvSpPr>
            <a:spLocks noGrp="1"/>
          </p:cNvSpPr>
          <p:nvPr>
            <p:ph type="dt" sz="half" idx="10"/>
          </p:nvPr>
        </p:nvSpPr>
        <p:spPr/>
        <p:txBody>
          <a:bodyPr/>
          <a:lstStyle/>
          <a:p>
            <a:fld id="{921A0E1D-7C35-594C-9EB3-3CF685C841F6}" type="datetimeFigureOut">
              <a:rPr lang="en-US" smtClean="0"/>
              <a:t>8/17/26</a:t>
            </a:fld>
            <a:endParaRPr lang="en-US"/>
          </a:p>
        </p:txBody>
      </p:sp>
      <p:sp>
        <p:nvSpPr>
          <p:cNvPr id="5" name="Footer Placeholder 4">
            <a:extLst>
              <a:ext uri="{FF2B5EF4-FFF2-40B4-BE49-F238E27FC236}">
                <a16:creationId xmlns:a16="http://schemas.microsoft.com/office/drawing/2014/main" id="{B1F3E970-3AE1-3169-B9EF-1F616BD37C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54600C-49A1-7A47-F529-1DE44E13801C}"/>
              </a:ext>
            </a:extLst>
          </p:cNvPr>
          <p:cNvSpPr>
            <a:spLocks noGrp="1"/>
          </p:cNvSpPr>
          <p:nvPr>
            <p:ph type="sldNum" sz="quarter" idx="12"/>
          </p:nvPr>
        </p:nvSpPr>
        <p:spPr/>
        <p:txBody>
          <a:bodyPr/>
          <a:lstStyle/>
          <a:p>
            <a:fld id="{AC9CA675-1ACD-AF4A-B1EB-EF3C412169E8}" type="slidenum">
              <a:rPr lang="en-US" smtClean="0"/>
              <a:t>‹#›</a:t>
            </a:fld>
            <a:endParaRPr lang="en-US"/>
          </a:p>
        </p:txBody>
      </p:sp>
    </p:spTree>
    <p:extLst>
      <p:ext uri="{BB962C8B-B14F-4D97-AF65-F5344CB8AC3E}">
        <p14:creationId xmlns:p14="http://schemas.microsoft.com/office/powerpoint/2010/main" val="14643401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55FC28-27FA-CA05-4984-885F9728C6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0308732-DA8E-0FD9-25DC-F988BE7D05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4E5D858-117A-3E5D-1094-18824D24BB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21A0E1D-7C35-594C-9EB3-3CF685C841F6}" type="datetimeFigureOut">
              <a:rPr lang="en-US" smtClean="0"/>
              <a:t>8/17/26</a:t>
            </a:fld>
            <a:endParaRPr lang="en-US"/>
          </a:p>
        </p:txBody>
      </p:sp>
      <p:sp>
        <p:nvSpPr>
          <p:cNvPr id="5" name="Footer Placeholder 4">
            <a:extLst>
              <a:ext uri="{FF2B5EF4-FFF2-40B4-BE49-F238E27FC236}">
                <a16:creationId xmlns:a16="http://schemas.microsoft.com/office/drawing/2014/main" id="{831B69B6-B056-6BA0-20BA-AC2909B261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DC3AD25-B7E4-0C6F-1DCA-8DE31AC60C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C9CA675-1ACD-AF4A-B1EB-EF3C412169E8}" type="slidenum">
              <a:rPr lang="en-US" smtClean="0"/>
              <a:t>‹#›</a:t>
            </a:fld>
            <a:endParaRPr lang="en-US"/>
          </a:p>
        </p:txBody>
      </p:sp>
    </p:spTree>
    <p:extLst>
      <p:ext uri="{BB962C8B-B14F-4D97-AF65-F5344CB8AC3E}">
        <p14:creationId xmlns:p14="http://schemas.microsoft.com/office/powerpoint/2010/main" val="26631834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6.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23D09407-53BC-485E-B4CE-BC5E4FC4B2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21DB988-49FC-4608-B0A2-E2F3A40190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752771-74F7-1CA9-4D50-47DA2775C9D8}"/>
              </a:ext>
            </a:extLst>
          </p:cNvPr>
          <p:cNvSpPr>
            <a:spLocks noGrp="1"/>
          </p:cNvSpPr>
          <p:nvPr>
            <p:ph type="ctrTitle"/>
          </p:nvPr>
        </p:nvSpPr>
        <p:spPr>
          <a:xfrm>
            <a:off x="530198" y="2023472"/>
            <a:ext cx="11131297" cy="1762347"/>
          </a:xfrm>
        </p:spPr>
        <p:txBody>
          <a:bodyPr anchor="b">
            <a:normAutofit/>
          </a:bodyPr>
          <a:lstStyle/>
          <a:p>
            <a:r>
              <a:rPr lang="en-US" sz="4800" dirty="0">
                <a:solidFill>
                  <a:schemeClr val="tx2"/>
                </a:solidFill>
                <a:latin typeface="Times New Roman" panose="02020603050405020304" pitchFamily="18" charset="0"/>
                <a:cs typeface="Times New Roman" panose="02020603050405020304" pitchFamily="18" charset="0"/>
              </a:rPr>
              <a:t>Cluster-enhanced injection in Laser Wakefield Acceleration</a:t>
            </a:r>
          </a:p>
        </p:txBody>
      </p:sp>
      <p:sp>
        <p:nvSpPr>
          <p:cNvPr id="3" name="Subtitle 2">
            <a:extLst>
              <a:ext uri="{FF2B5EF4-FFF2-40B4-BE49-F238E27FC236}">
                <a16:creationId xmlns:a16="http://schemas.microsoft.com/office/drawing/2014/main" id="{5BD8C48E-9644-DB68-2362-B25F9BAD4F2B}"/>
              </a:ext>
            </a:extLst>
          </p:cNvPr>
          <p:cNvSpPr>
            <a:spLocks noGrp="1"/>
          </p:cNvSpPr>
          <p:nvPr>
            <p:ph type="subTitle" idx="1"/>
          </p:nvPr>
        </p:nvSpPr>
        <p:spPr>
          <a:xfrm>
            <a:off x="1514121" y="4269064"/>
            <a:ext cx="9163757" cy="450447"/>
          </a:xfrm>
        </p:spPr>
        <p:txBody>
          <a:bodyPr anchor="ctr">
            <a:normAutofit/>
          </a:bodyPr>
          <a:lstStyle/>
          <a:p>
            <a:r>
              <a:rPr lang="en-US" sz="2000" dirty="0">
                <a:solidFill>
                  <a:schemeClr val="tx2"/>
                </a:solidFill>
                <a:latin typeface="Times New Roman" panose="02020603050405020304" pitchFamily="18" charset="0"/>
                <a:cs typeface="Times New Roman" panose="02020603050405020304" pitchFamily="18" charset="0"/>
              </a:rPr>
              <a:t>Ariz Akhtar UROP 2026</a:t>
            </a:r>
          </a:p>
        </p:txBody>
      </p:sp>
      <p:grpSp>
        <p:nvGrpSpPr>
          <p:cNvPr id="27" name="Group 26">
            <a:extLst>
              <a:ext uri="{FF2B5EF4-FFF2-40B4-BE49-F238E27FC236}">
                <a16:creationId xmlns:a16="http://schemas.microsoft.com/office/drawing/2014/main" id="{E9B930FD-8671-4C4C-ADCF-73AC1D0CD41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676747" y="0"/>
            <a:ext cx="2514948" cy="2174333"/>
            <a:chOff x="-305" y="-4155"/>
            <a:chExt cx="2514948" cy="2174333"/>
          </a:xfrm>
        </p:grpSpPr>
        <p:sp>
          <p:nvSpPr>
            <p:cNvPr id="28" name="Freeform: Shape 27">
              <a:extLst>
                <a:ext uri="{FF2B5EF4-FFF2-40B4-BE49-F238E27FC236}">
                  <a16:creationId xmlns:a16="http://schemas.microsoft.com/office/drawing/2014/main" id="{C35B12C1-569C-4E37-AA33-7EF215F201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F23E2660-7810-46F6-8752-187127C83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C991DC45-0378-45B3-B325-FB8F98545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1" name="Freeform: Shape 30">
              <a:extLst>
                <a:ext uri="{FF2B5EF4-FFF2-40B4-BE49-F238E27FC236}">
                  <a16:creationId xmlns:a16="http://schemas.microsoft.com/office/drawing/2014/main" id="{E228F5BA-5150-4554-B7EA-93F371F3B1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 name="Picture 4" descr="Brand | Administration and support services | Imperial College London">
            <a:extLst>
              <a:ext uri="{FF2B5EF4-FFF2-40B4-BE49-F238E27FC236}">
                <a16:creationId xmlns:a16="http://schemas.microsoft.com/office/drawing/2014/main" id="{3B685457-141F-829D-5021-C172B6E1EA44}"/>
              </a:ext>
            </a:extLst>
          </p:cNvPr>
          <p:cNvPicPr>
            <a:picLocks noChangeAspect="1"/>
          </p:cNvPicPr>
          <p:nvPr/>
        </p:nvPicPr>
        <p:blipFill>
          <a:blip r:embed="rId3"/>
          <a:srcRect t="29885" b="21116"/>
          <a:stretch>
            <a:fillRect/>
          </a:stretch>
        </p:blipFill>
        <p:spPr>
          <a:xfrm>
            <a:off x="0" y="279004"/>
            <a:ext cx="6303482" cy="1389888"/>
          </a:xfrm>
          <a:prstGeom prst="rect">
            <a:avLst/>
          </a:prstGeom>
        </p:spPr>
      </p:pic>
      <p:grpSp>
        <p:nvGrpSpPr>
          <p:cNvPr id="33" name="Group 32">
            <a:extLst>
              <a:ext uri="{FF2B5EF4-FFF2-40B4-BE49-F238E27FC236}">
                <a16:creationId xmlns:a16="http://schemas.microsoft.com/office/drawing/2014/main" id="{383C2651-AE0C-4AE4-8725-E2F9414FE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305" y="4322879"/>
            <a:ext cx="3378428" cy="2535121"/>
            <a:chOff x="-305" y="-1"/>
            <a:chExt cx="3832880" cy="2876136"/>
          </a:xfrm>
        </p:grpSpPr>
        <p:sp>
          <p:nvSpPr>
            <p:cNvPr id="34" name="Freeform: Shape 33">
              <a:extLst>
                <a:ext uri="{FF2B5EF4-FFF2-40B4-BE49-F238E27FC236}">
                  <a16:creationId xmlns:a16="http://schemas.microsoft.com/office/drawing/2014/main" id="{CCE13265-B5D2-47B4-A199-E05F390D5B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693EBD03-D832-462C-9304-7273698ED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Shape 35">
              <a:extLst>
                <a:ext uri="{FF2B5EF4-FFF2-40B4-BE49-F238E27FC236}">
                  <a16:creationId xmlns:a16="http://schemas.microsoft.com/office/drawing/2014/main" id="{0D53D3E2-805E-40D2-964F-352BF6D476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Freeform: Shape 36">
              <a:extLst>
                <a:ext uri="{FF2B5EF4-FFF2-40B4-BE49-F238E27FC236}">
                  <a16:creationId xmlns:a16="http://schemas.microsoft.com/office/drawing/2014/main" id="{B7A9A916-A926-43E6-800F-432ABC3F24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6673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682940"/>
            <a:ext cx="10515600" cy="689932"/>
          </a:xfrm>
          <a:prstGeom prst="rect">
            <a:avLst/>
          </a:prstGeom>
        </p:spPr>
        <p:txBody>
          <a:bodyPr vert="horz" wrap="square" lIns="0" tIns="12700" rIns="0" bIns="0" rtlCol="0">
            <a:spAutoFit/>
          </a:bodyPr>
          <a:lstStyle/>
          <a:p>
            <a:pPr marL="12700">
              <a:lnSpc>
                <a:spcPct val="100000"/>
              </a:lnSpc>
              <a:spcBef>
                <a:spcPts val="100"/>
              </a:spcBef>
            </a:pPr>
            <a:r>
              <a:rPr spc="-10" dirty="0">
                <a:latin typeface="Times New Roman" panose="02020603050405020304" pitchFamily="18" charset="0"/>
                <a:cs typeface="Times New Roman" panose="02020603050405020304" pitchFamily="18" charset="0"/>
              </a:rPr>
              <a:t>Outline</a:t>
            </a:r>
          </a:p>
        </p:txBody>
      </p:sp>
      <p:sp>
        <p:nvSpPr>
          <p:cNvPr id="3" name="object 3"/>
          <p:cNvSpPr txBox="1"/>
          <p:nvPr/>
        </p:nvSpPr>
        <p:spPr>
          <a:xfrm>
            <a:off x="838200" y="1825625"/>
            <a:ext cx="10515600" cy="2850139"/>
          </a:xfrm>
          <a:prstGeom prst="rect">
            <a:avLst/>
          </a:prstGeom>
          <a:ln w="9525">
            <a:solidFill>
              <a:srgbClr val="4472C4"/>
            </a:solidFill>
          </a:ln>
        </p:spPr>
        <p:txBody>
          <a:bodyPr vert="horz" wrap="square" lIns="0" tIns="79375" rIns="0" bIns="0" rtlCol="0">
            <a:spAutoFit/>
          </a:bodyPr>
          <a:lstStyle/>
          <a:p>
            <a:pPr marL="372110" indent="-228600">
              <a:lnSpc>
                <a:spcPct val="100000"/>
              </a:lnSpc>
              <a:spcBef>
                <a:spcPts val="625"/>
              </a:spcBef>
              <a:buFont typeface="Arial"/>
              <a:buChar char="•"/>
              <a:tabLst>
                <a:tab pos="372110" algn="l"/>
              </a:tabLst>
            </a:pPr>
            <a:r>
              <a:rPr sz="1800" dirty="0">
                <a:latin typeface="Times New Roman" panose="02020603050405020304" pitchFamily="18" charset="0"/>
                <a:cs typeface="Times New Roman" panose="02020603050405020304" pitchFamily="18" charset="0"/>
              </a:rPr>
              <a:t>Introduction</a:t>
            </a:r>
            <a:r>
              <a:rPr lang="en-GB" sz="1800" spc="-2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and</a:t>
            </a:r>
            <a:r>
              <a:rPr lang="en-GB" sz="1800" spc="-30" dirty="0">
                <a:latin typeface="Times New Roman" panose="02020603050405020304" pitchFamily="18" charset="0"/>
                <a:cs typeface="Times New Roman" panose="02020603050405020304" pitchFamily="18" charset="0"/>
              </a:rPr>
              <a:t> </a:t>
            </a:r>
            <a:r>
              <a:rPr lang="en-GB" sz="1800" spc="-10" dirty="0">
                <a:latin typeface="Times New Roman" panose="02020603050405020304" pitchFamily="18" charset="0"/>
                <a:cs typeface="Times New Roman" panose="02020603050405020304" pitchFamily="18" charset="0"/>
              </a:rPr>
              <a:t>Background</a:t>
            </a:r>
            <a:endParaRPr lang="en-GB" sz="1800" dirty="0">
              <a:latin typeface="Times New Roman" panose="02020603050405020304" pitchFamily="18" charset="0"/>
              <a:cs typeface="Times New Roman" panose="02020603050405020304" pitchFamily="18" charset="0"/>
            </a:endParaRPr>
          </a:p>
          <a:p>
            <a:pPr marL="829310" lvl="1" indent="-228600">
              <a:lnSpc>
                <a:spcPct val="100000"/>
              </a:lnSpc>
              <a:spcBef>
                <a:spcPts val="45"/>
              </a:spcBef>
              <a:buFont typeface="Arial"/>
              <a:buChar char="•"/>
              <a:tabLst>
                <a:tab pos="829310" algn="l"/>
              </a:tabLst>
            </a:pPr>
            <a:r>
              <a:rPr lang="en-GB" spc="-155" dirty="0">
                <a:latin typeface="Times New Roman" panose="02020603050405020304" pitchFamily="18" charset="0"/>
                <a:cs typeface="Times New Roman" panose="02020603050405020304" pitchFamily="18" charset="0"/>
              </a:rPr>
              <a:t>LWFA</a:t>
            </a:r>
            <a:endParaRPr lang="en-GB" sz="1800" spc="-10" dirty="0">
              <a:latin typeface="Times New Roman" panose="02020603050405020304" pitchFamily="18" charset="0"/>
              <a:cs typeface="Times New Roman" panose="02020603050405020304" pitchFamily="18" charset="0"/>
            </a:endParaRPr>
          </a:p>
          <a:p>
            <a:pPr marL="829310" lvl="1" indent="-228600">
              <a:lnSpc>
                <a:spcPct val="100000"/>
              </a:lnSpc>
              <a:spcBef>
                <a:spcPts val="45"/>
              </a:spcBef>
              <a:buFont typeface="Arial"/>
              <a:buChar char="•"/>
              <a:tabLst>
                <a:tab pos="829310" algn="l"/>
              </a:tabLst>
            </a:pPr>
            <a:r>
              <a:rPr lang="en-GB" sz="1800" spc="-10" dirty="0">
                <a:latin typeface="Times New Roman" panose="02020603050405020304" pitchFamily="18" charset="0"/>
                <a:cs typeface="Times New Roman" panose="02020603050405020304" pitchFamily="18" charset="0"/>
              </a:rPr>
              <a:t>Cluster-enhanced injection</a:t>
            </a:r>
            <a:endParaRPr lang="en-GB" spc="-10" dirty="0">
              <a:latin typeface="Times New Roman" panose="02020603050405020304" pitchFamily="18" charset="0"/>
              <a:cs typeface="Times New Roman" panose="02020603050405020304" pitchFamily="18" charset="0"/>
            </a:endParaRPr>
          </a:p>
          <a:p>
            <a:pPr marL="829310" lvl="1" indent="-228600">
              <a:lnSpc>
                <a:spcPct val="100000"/>
              </a:lnSpc>
              <a:spcBef>
                <a:spcPts val="45"/>
              </a:spcBef>
              <a:buFont typeface="Arial"/>
              <a:buChar char="•"/>
              <a:tabLst>
                <a:tab pos="829310" algn="l"/>
              </a:tabLst>
            </a:pPr>
            <a:endParaRPr sz="1800" dirty="0">
              <a:latin typeface="Times New Roman" panose="02020603050405020304" pitchFamily="18" charset="0"/>
              <a:cs typeface="Times New Roman" panose="02020603050405020304" pitchFamily="18" charset="0"/>
            </a:endParaRPr>
          </a:p>
          <a:p>
            <a:pPr marL="372110" indent="-228600">
              <a:lnSpc>
                <a:spcPct val="100000"/>
              </a:lnSpc>
              <a:buFont typeface="Arial"/>
              <a:buChar char="•"/>
              <a:tabLst>
                <a:tab pos="372110" algn="l"/>
              </a:tabLst>
            </a:pPr>
            <a:r>
              <a:rPr sz="1800" spc="-10" dirty="0">
                <a:latin typeface="Times New Roman" panose="02020603050405020304" pitchFamily="18" charset="0"/>
                <a:cs typeface="Times New Roman" panose="02020603050405020304" pitchFamily="18" charset="0"/>
              </a:rPr>
              <a:t>Studies</a:t>
            </a:r>
            <a:endParaRPr sz="1800" dirty="0">
              <a:latin typeface="Times New Roman" panose="02020603050405020304" pitchFamily="18" charset="0"/>
              <a:cs typeface="Times New Roman" panose="02020603050405020304" pitchFamily="18" charset="0"/>
            </a:endParaRPr>
          </a:p>
          <a:p>
            <a:pPr marL="829310" lvl="1" indent="-228600">
              <a:lnSpc>
                <a:spcPct val="100000"/>
              </a:lnSpc>
              <a:spcBef>
                <a:spcPts val="45"/>
              </a:spcBef>
              <a:buFont typeface="Arial"/>
              <a:buChar char="•"/>
              <a:tabLst>
                <a:tab pos="829310" algn="l"/>
              </a:tabLst>
            </a:pPr>
            <a:r>
              <a:rPr lang="en-GB" sz="1800" dirty="0">
                <a:latin typeface="Times New Roman" panose="02020603050405020304" pitchFamily="18" charset="0"/>
                <a:cs typeface="Times New Roman" panose="02020603050405020304" pitchFamily="18" charset="0"/>
              </a:rPr>
              <a:t>Aims of the proje</a:t>
            </a:r>
            <a:r>
              <a:rPr lang="en-GB" dirty="0">
                <a:latin typeface="Times New Roman" panose="02020603050405020304" pitchFamily="18" charset="0"/>
                <a:cs typeface="Times New Roman" panose="02020603050405020304" pitchFamily="18" charset="0"/>
              </a:rPr>
              <a:t>ct</a:t>
            </a:r>
          </a:p>
          <a:p>
            <a:pPr marL="829310" lvl="1" indent="-228600">
              <a:spcBef>
                <a:spcPts val="45"/>
              </a:spcBef>
              <a:buFont typeface="Arial"/>
              <a:buChar char="•"/>
              <a:tabLst>
                <a:tab pos="829310" algn="l"/>
              </a:tabLst>
            </a:pPr>
            <a:r>
              <a:rPr lang="en-GB" dirty="0">
                <a:latin typeface="Times New Roman" panose="02020603050405020304" pitchFamily="18" charset="0"/>
                <a:cs typeface="Times New Roman" panose="02020603050405020304" pitchFamily="18" charset="0"/>
              </a:rPr>
              <a:t>Heating mechanisms &amp; convergence tests</a:t>
            </a:r>
            <a:endParaRPr lang="en-GB" sz="1800" dirty="0">
              <a:latin typeface="Times New Roman" panose="02020603050405020304" pitchFamily="18" charset="0"/>
              <a:cs typeface="Times New Roman" panose="02020603050405020304" pitchFamily="18" charset="0"/>
            </a:endParaRPr>
          </a:p>
          <a:p>
            <a:pPr marL="829310" lvl="1" indent="-228600">
              <a:lnSpc>
                <a:spcPct val="100000"/>
              </a:lnSpc>
              <a:spcBef>
                <a:spcPts val="45"/>
              </a:spcBef>
              <a:buFont typeface="Arial"/>
              <a:buChar char="•"/>
              <a:tabLst>
                <a:tab pos="829310" algn="l"/>
              </a:tabLst>
            </a:pPr>
            <a:r>
              <a:rPr lang="en-GB" dirty="0">
                <a:latin typeface="Times New Roman" panose="02020603050405020304" pitchFamily="18" charset="0"/>
                <a:cs typeface="Times New Roman" panose="02020603050405020304" pitchFamily="18" charset="0"/>
              </a:rPr>
              <a:t>Cluster expansion under the laser pre-pulse</a:t>
            </a:r>
          </a:p>
          <a:p>
            <a:pPr marL="829310" lvl="1" indent="-228600">
              <a:lnSpc>
                <a:spcPct val="100000"/>
              </a:lnSpc>
              <a:spcBef>
                <a:spcPts val="45"/>
              </a:spcBef>
              <a:buFont typeface="Arial"/>
              <a:buChar char="•"/>
              <a:tabLst>
                <a:tab pos="829310" algn="l"/>
              </a:tabLst>
            </a:pPr>
            <a:endParaRPr sz="1800" dirty="0">
              <a:latin typeface="Times New Roman" panose="02020603050405020304" pitchFamily="18" charset="0"/>
              <a:cs typeface="Times New Roman" panose="02020603050405020304" pitchFamily="18" charset="0"/>
            </a:endParaRPr>
          </a:p>
          <a:p>
            <a:pPr marL="372110" indent="-228600">
              <a:lnSpc>
                <a:spcPct val="100000"/>
              </a:lnSpc>
              <a:buFont typeface="Arial"/>
              <a:buChar char="•"/>
              <a:tabLst>
                <a:tab pos="372110" algn="l"/>
              </a:tabLst>
            </a:pPr>
            <a:r>
              <a:rPr sz="1800" spc="-10" dirty="0">
                <a:latin typeface="Times New Roman" panose="02020603050405020304" pitchFamily="18" charset="0"/>
                <a:cs typeface="Times New Roman" panose="02020603050405020304" pitchFamily="18" charset="0"/>
              </a:rPr>
              <a:t>Conclusion</a:t>
            </a:r>
            <a:r>
              <a:rPr lang="en-GB" sz="1800" spc="-10" dirty="0">
                <a:latin typeface="Times New Roman" panose="02020603050405020304" pitchFamily="18" charset="0"/>
                <a:cs typeface="Times New Roman" panose="02020603050405020304" pitchFamily="18" charset="0"/>
              </a:rPr>
              <a:t> &amp; Outlook</a:t>
            </a:r>
            <a:endParaRPr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C217E-5C02-5308-E98A-47FC5EBAA39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7482C91-8590-5E0C-A393-34CD30E34F9C}"/>
              </a:ext>
            </a:extLst>
          </p:cNvPr>
          <p:cNvSpPr txBox="1">
            <a:spLocks noGrp="1"/>
          </p:cNvSpPr>
          <p:nvPr>
            <p:ph type="title"/>
          </p:nvPr>
        </p:nvSpPr>
        <p:spPr>
          <a:xfrm>
            <a:off x="838200" y="682940"/>
            <a:ext cx="10515600" cy="689932"/>
          </a:xfrm>
          <a:prstGeom prst="rect">
            <a:avLst/>
          </a:prstGeom>
        </p:spPr>
        <p:txBody>
          <a:bodyPr vert="horz" wrap="square" lIns="0" tIns="12700" rIns="0" bIns="0" rtlCol="0">
            <a:spAutoFit/>
          </a:bodyPr>
          <a:lstStyle/>
          <a:p>
            <a:pPr marL="12700">
              <a:lnSpc>
                <a:spcPct val="100000"/>
              </a:lnSpc>
              <a:spcBef>
                <a:spcPts val="100"/>
              </a:spcBef>
            </a:pPr>
            <a:r>
              <a:rPr spc="-10" dirty="0">
                <a:latin typeface="Times New Roman" panose="02020603050405020304" pitchFamily="18" charset="0"/>
                <a:cs typeface="Times New Roman" panose="02020603050405020304" pitchFamily="18" charset="0"/>
              </a:rPr>
              <a:t>Outline</a:t>
            </a:r>
          </a:p>
        </p:txBody>
      </p:sp>
      <p:sp>
        <p:nvSpPr>
          <p:cNvPr id="3" name="object 3">
            <a:extLst>
              <a:ext uri="{FF2B5EF4-FFF2-40B4-BE49-F238E27FC236}">
                <a16:creationId xmlns:a16="http://schemas.microsoft.com/office/drawing/2014/main" id="{DE0F1AFE-A105-16B0-EDF2-692A88264890}"/>
              </a:ext>
            </a:extLst>
          </p:cNvPr>
          <p:cNvSpPr txBox="1"/>
          <p:nvPr/>
        </p:nvSpPr>
        <p:spPr>
          <a:xfrm>
            <a:off x="838200" y="1825625"/>
            <a:ext cx="10515600" cy="2850139"/>
          </a:xfrm>
          <a:prstGeom prst="rect">
            <a:avLst/>
          </a:prstGeom>
          <a:ln w="9525">
            <a:solidFill>
              <a:srgbClr val="4472C4"/>
            </a:solidFill>
          </a:ln>
        </p:spPr>
        <p:txBody>
          <a:bodyPr vert="horz" wrap="square" lIns="0" tIns="79375" rIns="0" bIns="0" rtlCol="0">
            <a:spAutoFit/>
          </a:bodyPr>
          <a:lstStyle/>
          <a:p>
            <a:pPr marL="372110" indent="-228600">
              <a:lnSpc>
                <a:spcPct val="100000"/>
              </a:lnSpc>
              <a:spcBef>
                <a:spcPts val="625"/>
              </a:spcBef>
              <a:buFont typeface="Arial"/>
              <a:buChar char="•"/>
              <a:tabLst>
                <a:tab pos="372110" algn="l"/>
              </a:tabLst>
            </a:pPr>
            <a:r>
              <a:rPr sz="1800" dirty="0">
                <a:latin typeface="Times New Roman" panose="02020603050405020304" pitchFamily="18" charset="0"/>
                <a:cs typeface="Times New Roman" panose="02020603050405020304" pitchFamily="18" charset="0"/>
              </a:rPr>
              <a:t>Introduction</a:t>
            </a:r>
            <a:r>
              <a:rPr lang="en-GB" sz="1800" spc="-2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and</a:t>
            </a:r>
            <a:r>
              <a:rPr lang="en-GB" sz="1800" spc="-30" dirty="0">
                <a:latin typeface="Times New Roman" panose="02020603050405020304" pitchFamily="18" charset="0"/>
                <a:cs typeface="Times New Roman" panose="02020603050405020304" pitchFamily="18" charset="0"/>
              </a:rPr>
              <a:t> </a:t>
            </a:r>
            <a:r>
              <a:rPr lang="en-GB" sz="1800" spc="-10" dirty="0">
                <a:latin typeface="Times New Roman" panose="02020603050405020304" pitchFamily="18" charset="0"/>
                <a:cs typeface="Times New Roman" panose="02020603050405020304" pitchFamily="18" charset="0"/>
              </a:rPr>
              <a:t>Background</a:t>
            </a:r>
            <a:endParaRPr lang="en-GB" sz="1800" dirty="0">
              <a:latin typeface="Times New Roman" panose="02020603050405020304" pitchFamily="18" charset="0"/>
              <a:cs typeface="Times New Roman" panose="02020603050405020304" pitchFamily="18" charset="0"/>
            </a:endParaRPr>
          </a:p>
          <a:p>
            <a:pPr marL="829310" lvl="1" indent="-228600">
              <a:lnSpc>
                <a:spcPct val="100000"/>
              </a:lnSpc>
              <a:spcBef>
                <a:spcPts val="45"/>
              </a:spcBef>
              <a:buFont typeface="Arial"/>
              <a:buChar char="•"/>
              <a:tabLst>
                <a:tab pos="829310" algn="l"/>
              </a:tabLst>
            </a:pPr>
            <a:r>
              <a:rPr lang="en-GB" spc="-155" dirty="0">
                <a:latin typeface="Times New Roman" panose="02020603050405020304" pitchFamily="18" charset="0"/>
                <a:cs typeface="Times New Roman" panose="02020603050405020304" pitchFamily="18" charset="0"/>
              </a:rPr>
              <a:t>LWFA</a:t>
            </a:r>
            <a:endParaRPr lang="en-GB" sz="1800" spc="-10" dirty="0">
              <a:latin typeface="Times New Roman" panose="02020603050405020304" pitchFamily="18" charset="0"/>
              <a:cs typeface="Times New Roman" panose="02020603050405020304" pitchFamily="18" charset="0"/>
            </a:endParaRPr>
          </a:p>
          <a:p>
            <a:pPr marL="829310" lvl="1" indent="-228600">
              <a:lnSpc>
                <a:spcPct val="100000"/>
              </a:lnSpc>
              <a:spcBef>
                <a:spcPts val="45"/>
              </a:spcBef>
              <a:buFont typeface="Arial"/>
              <a:buChar char="•"/>
              <a:tabLst>
                <a:tab pos="829310" algn="l"/>
              </a:tabLst>
            </a:pPr>
            <a:r>
              <a:rPr lang="en-GB" sz="1800" spc="-10" dirty="0">
                <a:latin typeface="Times New Roman" panose="02020603050405020304" pitchFamily="18" charset="0"/>
                <a:cs typeface="Times New Roman" panose="02020603050405020304" pitchFamily="18" charset="0"/>
              </a:rPr>
              <a:t>Cluster-enhanced injection</a:t>
            </a:r>
            <a:endParaRPr lang="en-GB" spc="-10" dirty="0">
              <a:latin typeface="Times New Roman" panose="02020603050405020304" pitchFamily="18" charset="0"/>
              <a:cs typeface="Times New Roman" panose="02020603050405020304" pitchFamily="18" charset="0"/>
            </a:endParaRPr>
          </a:p>
          <a:p>
            <a:pPr marL="829310" lvl="1" indent="-228600">
              <a:lnSpc>
                <a:spcPct val="100000"/>
              </a:lnSpc>
              <a:spcBef>
                <a:spcPts val="45"/>
              </a:spcBef>
              <a:buFont typeface="Arial"/>
              <a:buChar char="•"/>
              <a:tabLst>
                <a:tab pos="829310" algn="l"/>
              </a:tabLst>
            </a:pPr>
            <a:endParaRPr sz="1800" dirty="0">
              <a:latin typeface="Times New Roman" panose="02020603050405020304" pitchFamily="18" charset="0"/>
              <a:cs typeface="Times New Roman" panose="02020603050405020304" pitchFamily="18" charset="0"/>
            </a:endParaRPr>
          </a:p>
          <a:p>
            <a:pPr marL="372110" indent="-228600">
              <a:lnSpc>
                <a:spcPct val="100000"/>
              </a:lnSpc>
              <a:buFont typeface="Arial"/>
              <a:buChar char="•"/>
              <a:tabLst>
                <a:tab pos="372110" algn="l"/>
              </a:tabLst>
            </a:pPr>
            <a:r>
              <a:rPr sz="1800" spc="-10" dirty="0">
                <a:solidFill>
                  <a:schemeClr val="bg1">
                    <a:lumMod val="50000"/>
                  </a:schemeClr>
                </a:solidFill>
                <a:latin typeface="Times New Roman" panose="02020603050405020304" pitchFamily="18" charset="0"/>
                <a:cs typeface="Times New Roman" panose="02020603050405020304" pitchFamily="18" charset="0"/>
              </a:rPr>
              <a:t>Studies</a:t>
            </a:r>
            <a:endParaRPr sz="1800" dirty="0">
              <a:solidFill>
                <a:schemeClr val="bg1">
                  <a:lumMod val="50000"/>
                </a:schemeClr>
              </a:solidFill>
              <a:latin typeface="Times New Roman" panose="02020603050405020304" pitchFamily="18" charset="0"/>
              <a:cs typeface="Times New Roman" panose="02020603050405020304" pitchFamily="18" charset="0"/>
            </a:endParaRPr>
          </a:p>
          <a:p>
            <a:pPr marL="829310" lvl="1" indent="-228600">
              <a:lnSpc>
                <a:spcPct val="100000"/>
              </a:lnSpc>
              <a:spcBef>
                <a:spcPts val="45"/>
              </a:spcBef>
              <a:buFont typeface="Arial"/>
              <a:buChar char="•"/>
              <a:tabLst>
                <a:tab pos="829310" algn="l"/>
              </a:tabLst>
            </a:pPr>
            <a:r>
              <a:rPr lang="en-GB" sz="1800" dirty="0">
                <a:solidFill>
                  <a:schemeClr val="bg1">
                    <a:lumMod val="50000"/>
                  </a:schemeClr>
                </a:solidFill>
                <a:latin typeface="Times New Roman" panose="02020603050405020304" pitchFamily="18" charset="0"/>
                <a:cs typeface="Times New Roman" panose="02020603050405020304" pitchFamily="18" charset="0"/>
              </a:rPr>
              <a:t>Aims of the proje</a:t>
            </a:r>
            <a:r>
              <a:rPr lang="en-GB" dirty="0">
                <a:solidFill>
                  <a:schemeClr val="bg1">
                    <a:lumMod val="50000"/>
                  </a:schemeClr>
                </a:solidFill>
                <a:latin typeface="Times New Roman" panose="02020603050405020304" pitchFamily="18" charset="0"/>
                <a:cs typeface="Times New Roman" panose="02020603050405020304" pitchFamily="18" charset="0"/>
              </a:rPr>
              <a:t>ct</a:t>
            </a:r>
          </a:p>
          <a:p>
            <a:pPr marL="829310" lvl="1" indent="-228600">
              <a:spcBef>
                <a:spcPts val="45"/>
              </a:spcBef>
              <a:buFont typeface="Arial"/>
              <a:buChar char="•"/>
              <a:tabLst>
                <a:tab pos="829310" algn="l"/>
              </a:tabLst>
            </a:pPr>
            <a:r>
              <a:rPr lang="en-GB" dirty="0">
                <a:solidFill>
                  <a:schemeClr val="bg1">
                    <a:lumMod val="50000"/>
                  </a:schemeClr>
                </a:solidFill>
                <a:latin typeface="Times New Roman" panose="02020603050405020304" pitchFamily="18" charset="0"/>
                <a:cs typeface="Times New Roman" panose="02020603050405020304" pitchFamily="18" charset="0"/>
              </a:rPr>
              <a:t>Heating mechanisms &amp; convergence tests</a:t>
            </a:r>
            <a:endParaRPr lang="en-GB" sz="1800" dirty="0">
              <a:solidFill>
                <a:schemeClr val="bg1">
                  <a:lumMod val="50000"/>
                </a:schemeClr>
              </a:solidFill>
              <a:latin typeface="Times New Roman" panose="02020603050405020304" pitchFamily="18" charset="0"/>
              <a:cs typeface="Times New Roman" panose="02020603050405020304" pitchFamily="18" charset="0"/>
            </a:endParaRPr>
          </a:p>
          <a:p>
            <a:pPr marL="829310" lvl="1" indent="-228600">
              <a:lnSpc>
                <a:spcPct val="100000"/>
              </a:lnSpc>
              <a:spcBef>
                <a:spcPts val="45"/>
              </a:spcBef>
              <a:buFont typeface="Arial"/>
              <a:buChar char="•"/>
              <a:tabLst>
                <a:tab pos="829310" algn="l"/>
              </a:tabLst>
            </a:pPr>
            <a:r>
              <a:rPr lang="en-GB" dirty="0">
                <a:solidFill>
                  <a:schemeClr val="bg1">
                    <a:lumMod val="50000"/>
                  </a:schemeClr>
                </a:solidFill>
                <a:latin typeface="Times New Roman" panose="02020603050405020304" pitchFamily="18" charset="0"/>
                <a:cs typeface="Times New Roman" panose="02020603050405020304" pitchFamily="18" charset="0"/>
              </a:rPr>
              <a:t>Cluster expansion under the laser pre-pulse</a:t>
            </a:r>
          </a:p>
          <a:p>
            <a:pPr marL="829310" lvl="1" indent="-228600">
              <a:lnSpc>
                <a:spcPct val="100000"/>
              </a:lnSpc>
              <a:spcBef>
                <a:spcPts val="45"/>
              </a:spcBef>
              <a:buFont typeface="Arial"/>
              <a:buChar char="•"/>
              <a:tabLst>
                <a:tab pos="829310" algn="l"/>
              </a:tabLst>
            </a:pPr>
            <a:endParaRPr sz="1800" dirty="0">
              <a:solidFill>
                <a:schemeClr val="bg1">
                  <a:lumMod val="50000"/>
                </a:schemeClr>
              </a:solidFill>
              <a:latin typeface="Times New Roman" panose="02020603050405020304" pitchFamily="18" charset="0"/>
              <a:cs typeface="Times New Roman" panose="02020603050405020304" pitchFamily="18" charset="0"/>
            </a:endParaRPr>
          </a:p>
          <a:p>
            <a:pPr marL="372110" indent="-228600">
              <a:lnSpc>
                <a:spcPct val="100000"/>
              </a:lnSpc>
              <a:buFont typeface="Arial"/>
              <a:buChar char="•"/>
              <a:tabLst>
                <a:tab pos="372110" algn="l"/>
              </a:tabLst>
            </a:pPr>
            <a:r>
              <a:rPr sz="1800" spc="-10" dirty="0">
                <a:solidFill>
                  <a:schemeClr val="bg1">
                    <a:lumMod val="50000"/>
                  </a:schemeClr>
                </a:solidFill>
                <a:latin typeface="Times New Roman" panose="02020603050405020304" pitchFamily="18" charset="0"/>
                <a:cs typeface="Times New Roman" panose="02020603050405020304" pitchFamily="18" charset="0"/>
              </a:rPr>
              <a:t>Conclusion</a:t>
            </a:r>
            <a:r>
              <a:rPr lang="en-GB" sz="1800" spc="-10" dirty="0">
                <a:solidFill>
                  <a:schemeClr val="bg1">
                    <a:lumMod val="50000"/>
                  </a:schemeClr>
                </a:solidFill>
                <a:latin typeface="Times New Roman" panose="02020603050405020304" pitchFamily="18" charset="0"/>
                <a:cs typeface="Times New Roman" panose="02020603050405020304" pitchFamily="18" charset="0"/>
              </a:rPr>
              <a:t> &amp; Outlook</a:t>
            </a:r>
            <a:endParaRPr sz="1800" dirty="0">
              <a:solidFill>
                <a:schemeClr val="bg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49977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6F531-4902-4A3F-75ED-925E2C12DF43}"/>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Laser wakefield acceleration (LWFA)</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6C0CD67-ACF8-0101-72A5-A3256AE0A43C}"/>
              </a:ext>
            </a:extLst>
          </p:cNvPr>
          <p:cNvSpPr>
            <a:spLocks noGrp="1"/>
          </p:cNvSpPr>
          <p:nvPr>
            <p:ph idx="1"/>
          </p:nvPr>
        </p:nvSpPr>
        <p:spPr/>
        <p:txBody>
          <a:bodyPr>
            <a:normAutofit lnSpcReduction="10000"/>
          </a:bodyPr>
          <a:lstStyle/>
          <a:p>
            <a:r>
              <a:rPr lang="en-US" b="1" dirty="0">
                <a:latin typeface="Times New Roman" panose="02020603050405020304" pitchFamily="18" charset="0"/>
                <a:cs typeface="Times New Roman" panose="02020603050405020304" pitchFamily="18" charset="0"/>
              </a:rPr>
              <a:t>Conventional RF accelerators:</a:t>
            </a:r>
          </a:p>
          <a:p>
            <a:pPr>
              <a:buFontTx/>
              <a:buChar char="-"/>
            </a:pPr>
            <a:r>
              <a:rPr lang="en-US" dirty="0">
                <a:latin typeface="Times New Roman" panose="02020603050405020304" pitchFamily="18" charset="0"/>
                <a:cs typeface="Times New Roman" panose="02020603050405020304" pitchFamily="18" charset="0"/>
              </a:rPr>
              <a:t>Peak acceleration gradients limited to ~100 MV/m</a:t>
            </a:r>
          </a:p>
          <a:p>
            <a:pPr>
              <a:buFontTx/>
              <a:buChar char="-"/>
            </a:pPr>
            <a:r>
              <a:rPr lang="en-US" dirty="0">
                <a:latin typeface="Times New Roman" panose="02020603050405020304" pitchFamily="18" charset="0"/>
                <a:cs typeface="Times New Roman" panose="02020603050405020304" pitchFamily="18" charset="0"/>
              </a:rPr>
              <a:t>Often require large-scale facilities </a:t>
            </a:r>
          </a:p>
          <a:p>
            <a:pPr>
              <a:buFontTx/>
              <a:buChar char="-"/>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Laser-plasma accelerators:</a:t>
            </a:r>
          </a:p>
          <a:p>
            <a:pPr>
              <a:buFontTx/>
              <a:buChar char="-"/>
            </a:pPr>
            <a:r>
              <a:rPr lang="en-US" dirty="0">
                <a:latin typeface="Times New Roman" panose="02020603050405020304" pitchFamily="18" charset="0"/>
                <a:cs typeface="Times New Roman" panose="02020603050405020304" pitchFamily="18" charset="0"/>
              </a:rPr>
              <a:t>Use intense laser pulses to drive plasma waves</a:t>
            </a:r>
          </a:p>
          <a:p>
            <a:pPr>
              <a:buFontTx/>
              <a:buChar char="-"/>
            </a:pPr>
            <a:r>
              <a:rPr lang="en-US" dirty="0">
                <a:latin typeface="Times New Roman" panose="02020603050405020304" pitchFamily="18" charset="0"/>
                <a:cs typeface="Times New Roman" panose="02020603050405020304" pitchFamily="18" charset="0"/>
              </a:rPr>
              <a:t>Can sustain accelerating fields of up to ~100 GV/m</a:t>
            </a:r>
          </a:p>
          <a:p>
            <a:pPr>
              <a:buFontTx/>
              <a:buChar char="-"/>
            </a:pPr>
            <a:r>
              <a:rPr lang="en-US" dirty="0">
                <a:latin typeface="Times New Roman" panose="02020603050405020304" pitchFamily="18" charset="0"/>
                <a:cs typeface="Times New Roman" panose="02020603050405020304" pitchFamily="18" charset="0"/>
              </a:rPr>
              <a:t>Are a potential route towards compact high-energy accelerators</a:t>
            </a:r>
          </a:p>
          <a:p>
            <a:pPr>
              <a:buFontTx/>
              <a:buChar char="-"/>
            </a:pPr>
            <a:r>
              <a:rPr lang="en-US" dirty="0">
                <a:latin typeface="Times New Roman" panose="02020603050405020304" pitchFamily="18" charset="0"/>
                <a:cs typeface="Times New Roman" panose="02020603050405020304" pitchFamily="18" charset="0"/>
              </a:rPr>
              <a:t>Used in QED experiments, radiation therapy, medical imaging etc.​</a:t>
            </a:r>
          </a:p>
          <a:p>
            <a:pPr>
              <a:buFontTx/>
              <a:buChar char="-"/>
            </a:pPr>
            <a:endParaRPr lang="en-US" dirty="0">
              <a:latin typeface="Times New Roman" panose="02020603050405020304" pitchFamily="18" charset="0"/>
              <a:cs typeface="Times New Roman" panose="02020603050405020304" pitchFamily="18" charset="0"/>
            </a:endParaRPr>
          </a:p>
        </p:txBody>
      </p:sp>
      <p:sp>
        <p:nvSpPr>
          <p:cNvPr id="4" name="object 3">
            <a:extLst>
              <a:ext uri="{FF2B5EF4-FFF2-40B4-BE49-F238E27FC236}">
                <a16:creationId xmlns:a16="http://schemas.microsoft.com/office/drawing/2014/main" id="{E9726EEB-169B-8D41-232C-49FCAD60F399}"/>
              </a:ext>
            </a:extLst>
          </p:cNvPr>
          <p:cNvSpPr/>
          <p:nvPr/>
        </p:nvSpPr>
        <p:spPr>
          <a:xfrm>
            <a:off x="838199" y="1728001"/>
            <a:ext cx="10615147" cy="4351338"/>
          </a:xfrm>
          <a:custGeom>
            <a:avLst/>
            <a:gdLst/>
            <a:ahLst/>
            <a:cxnLst/>
            <a:rect l="l" t="t" r="r" b="b"/>
            <a:pathLst>
              <a:path w="10515600" h="4351655">
                <a:moveTo>
                  <a:pt x="0" y="0"/>
                </a:moveTo>
                <a:lnTo>
                  <a:pt x="10515600" y="0"/>
                </a:lnTo>
                <a:lnTo>
                  <a:pt x="10515600" y="4351338"/>
                </a:lnTo>
                <a:lnTo>
                  <a:pt x="0" y="4351338"/>
                </a:lnTo>
                <a:lnTo>
                  <a:pt x="0" y="0"/>
                </a:lnTo>
                <a:close/>
              </a:path>
            </a:pathLst>
          </a:custGeom>
          <a:ln w="9525">
            <a:solidFill>
              <a:srgbClr val="4472C4"/>
            </a:solidFill>
          </a:ln>
        </p:spPr>
        <p:txBody>
          <a:bodyPr wrap="square" lIns="0" tIns="0" rIns="0" bIns="0" rtlCol="0"/>
          <a:lstStyle/>
          <a:p>
            <a:endParaRPr/>
          </a:p>
        </p:txBody>
      </p:sp>
    </p:spTree>
    <p:extLst>
      <p:ext uri="{BB962C8B-B14F-4D97-AF65-F5344CB8AC3E}">
        <p14:creationId xmlns:p14="http://schemas.microsoft.com/office/powerpoint/2010/main" val="3457838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09106B-615C-86C2-289D-7C694045F3A4}"/>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EDFF2B8E-74D7-2343-694D-D7249579AB6B}"/>
              </a:ext>
            </a:extLst>
          </p:cNvPr>
          <p:cNvPicPr>
            <a:picLocks noChangeAspect="1"/>
          </p:cNvPicPr>
          <p:nvPr/>
        </p:nvPicPr>
        <p:blipFill>
          <a:blip r:embed="rId3"/>
          <a:stretch>
            <a:fillRect/>
          </a:stretch>
        </p:blipFill>
        <p:spPr>
          <a:xfrm>
            <a:off x="2418728" y="643466"/>
            <a:ext cx="7354544" cy="5571067"/>
          </a:xfrm>
          <a:prstGeom prst="rect">
            <a:avLst/>
          </a:prstGeom>
        </p:spPr>
      </p:pic>
      <p:sp>
        <p:nvSpPr>
          <p:cNvPr id="14" name="TextBox 13">
            <a:extLst>
              <a:ext uri="{FF2B5EF4-FFF2-40B4-BE49-F238E27FC236}">
                <a16:creationId xmlns:a16="http://schemas.microsoft.com/office/drawing/2014/main" id="{1785F791-A3D0-BE7E-00AC-D6121DE26B8B}"/>
              </a:ext>
            </a:extLst>
          </p:cNvPr>
          <p:cNvSpPr txBox="1"/>
          <p:nvPr/>
        </p:nvSpPr>
        <p:spPr>
          <a:xfrm>
            <a:off x="4600135" y="998806"/>
            <a:ext cx="2588456" cy="365760"/>
          </a:xfrm>
          <a:prstGeom prst="rect">
            <a:avLst/>
          </a:prstGeom>
          <a:solidFill>
            <a:schemeClr val="bg1"/>
          </a:solidFill>
        </p:spPr>
        <p:txBody>
          <a:bodyPr wrap="square" rtlCol="0">
            <a:spAutoFit/>
          </a:bodyPr>
          <a:lstStyle/>
          <a:p>
            <a:endParaRPr lang="en-US" dirty="0"/>
          </a:p>
        </p:txBody>
      </p:sp>
      <p:sp>
        <p:nvSpPr>
          <p:cNvPr id="15" name="TextBox 14">
            <a:extLst>
              <a:ext uri="{FF2B5EF4-FFF2-40B4-BE49-F238E27FC236}">
                <a16:creationId xmlns:a16="http://schemas.microsoft.com/office/drawing/2014/main" id="{6E4A4AD0-DE1C-E606-AE62-AF221D436562}"/>
              </a:ext>
            </a:extLst>
          </p:cNvPr>
          <p:cNvSpPr txBox="1"/>
          <p:nvPr/>
        </p:nvSpPr>
        <p:spPr>
          <a:xfrm>
            <a:off x="5723205" y="6183086"/>
            <a:ext cx="2715066" cy="369332"/>
          </a:xfrm>
          <a:prstGeom prst="rect">
            <a:avLst/>
          </a:prstGeom>
          <a:noFill/>
        </p:spPr>
        <p:txBody>
          <a:bodyPr wrap="square" rtlCol="0">
            <a:spAutoFit/>
          </a:bodyPr>
          <a:lstStyle/>
          <a:p>
            <a:r>
              <a:rPr lang="en-GB" b="1" dirty="0"/>
              <a:t>[1]</a:t>
            </a:r>
            <a:endParaRPr lang="en-US" dirty="0"/>
          </a:p>
        </p:txBody>
      </p:sp>
    </p:spTree>
    <p:extLst>
      <p:ext uri="{BB962C8B-B14F-4D97-AF65-F5344CB8AC3E}">
        <p14:creationId xmlns:p14="http://schemas.microsoft.com/office/powerpoint/2010/main" val="2540329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7A40A-921B-316D-389C-2386F826EB3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Cluster-enhanced injection</a:t>
            </a:r>
          </a:p>
        </p:txBody>
      </p:sp>
      <p:sp>
        <p:nvSpPr>
          <p:cNvPr id="3" name="Content Placeholder 2">
            <a:extLst>
              <a:ext uri="{FF2B5EF4-FFF2-40B4-BE49-F238E27FC236}">
                <a16:creationId xmlns:a16="http://schemas.microsoft.com/office/drawing/2014/main" id="{26263B46-5604-B814-DA28-3AF86E192FF1}"/>
              </a:ext>
            </a:extLst>
          </p:cNvPr>
          <p:cNvSpPr>
            <a:spLocks noGrp="1"/>
          </p:cNvSpPr>
          <p:nvPr>
            <p:ph idx="1"/>
          </p:nvPr>
        </p:nvSpPr>
        <p:spPr>
          <a:xfrm>
            <a:off x="838200" y="1825624"/>
            <a:ext cx="10515600" cy="4502024"/>
          </a:xfrm>
        </p:spPr>
        <p:txBody>
          <a:bodyPr>
            <a:normAutofit fontScale="85000" lnSpcReduction="20000"/>
          </a:bodyPr>
          <a:lstStyle/>
          <a:p>
            <a:pPr fontAlgn="base"/>
            <a:r>
              <a:rPr lang="en-US" dirty="0">
                <a:latin typeface="Times New Roman" panose="02020603050405020304" pitchFamily="18" charset="0"/>
                <a:cs typeface="Times New Roman" panose="02020603050405020304" pitchFamily="18" charset="0"/>
              </a:rPr>
              <a:t>Dense molecular clusters embedded within the plasma locally modify the plasma's response to the laser pulse​</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Laser interaction will ionise and expand the cluster targets, forming charge separation and strong electric fields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Electrons get heated and expelled from the cluster</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Leads to enhanced charge yield compared to uniform targets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These energetic electrons then interact with the LWFA wake and hence increase electron injection</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object 3">
            <a:extLst>
              <a:ext uri="{FF2B5EF4-FFF2-40B4-BE49-F238E27FC236}">
                <a16:creationId xmlns:a16="http://schemas.microsoft.com/office/drawing/2014/main" id="{0DC40289-5BC1-662E-B4D3-8302E11B28AE}"/>
              </a:ext>
            </a:extLst>
          </p:cNvPr>
          <p:cNvSpPr/>
          <p:nvPr/>
        </p:nvSpPr>
        <p:spPr>
          <a:xfrm>
            <a:off x="838199" y="1728001"/>
            <a:ext cx="10615147" cy="4371463"/>
          </a:xfrm>
          <a:custGeom>
            <a:avLst/>
            <a:gdLst/>
            <a:ahLst/>
            <a:cxnLst/>
            <a:rect l="l" t="t" r="r" b="b"/>
            <a:pathLst>
              <a:path w="10515600" h="4351655">
                <a:moveTo>
                  <a:pt x="0" y="0"/>
                </a:moveTo>
                <a:lnTo>
                  <a:pt x="10515600" y="0"/>
                </a:lnTo>
                <a:lnTo>
                  <a:pt x="10515600" y="4351338"/>
                </a:lnTo>
                <a:lnTo>
                  <a:pt x="0" y="4351338"/>
                </a:lnTo>
                <a:lnTo>
                  <a:pt x="0" y="0"/>
                </a:lnTo>
                <a:close/>
              </a:path>
            </a:pathLst>
          </a:custGeom>
          <a:ln w="9525">
            <a:solidFill>
              <a:srgbClr val="4472C4"/>
            </a:solidFill>
          </a:ln>
        </p:spPr>
        <p:txBody>
          <a:bodyPr wrap="square" lIns="0" tIns="0" rIns="0" bIns="0" rtlCol="0"/>
          <a:lstStyle/>
          <a:p>
            <a:endParaRPr/>
          </a:p>
        </p:txBody>
      </p:sp>
    </p:spTree>
    <p:extLst>
      <p:ext uri="{BB962C8B-B14F-4D97-AF65-F5344CB8AC3E}">
        <p14:creationId xmlns:p14="http://schemas.microsoft.com/office/powerpoint/2010/main" val="4233450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AFCAF-B4F4-EE0B-6F51-CED0CD307A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829281-DC46-7F2A-CBB7-781FCD12CC0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Cluster formation</a:t>
            </a:r>
          </a:p>
        </p:txBody>
      </p:sp>
      <p:sp>
        <p:nvSpPr>
          <p:cNvPr id="3" name="Content Placeholder 2">
            <a:extLst>
              <a:ext uri="{FF2B5EF4-FFF2-40B4-BE49-F238E27FC236}">
                <a16:creationId xmlns:a16="http://schemas.microsoft.com/office/drawing/2014/main" id="{320BFAC4-BB77-832A-8049-C11D5F7605F4}"/>
              </a:ext>
            </a:extLst>
          </p:cNvPr>
          <p:cNvSpPr>
            <a:spLocks noGrp="1"/>
          </p:cNvSpPr>
          <p:nvPr>
            <p:ph idx="1"/>
          </p:nvPr>
        </p:nvSpPr>
        <p:spPr>
          <a:xfrm>
            <a:off x="838200" y="1825624"/>
            <a:ext cx="10515600" cy="4575176"/>
          </a:xfrm>
        </p:spPr>
        <p:txBody>
          <a:bodyPr>
            <a:normAutofit/>
          </a:bodyPr>
          <a:lstStyle/>
          <a:p>
            <a:pPr fontAlgn="base"/>
            <a:r>
              <a:rPr lang="en-US" dirty="0">
                <a:latin typeface="Times New Roman" panose="02020603050405020304" pitchFamily="18" charset="0"/>
                <a:cs typeface="Times New Roman" panose="02020603050405020304" pitchFamily="18" charset="0"/>
              </a:rPr>
              <a:t>In gas jet targets, high-pressure gas undergoes adiabatic expansion through a nozzle</a:t>
            </a:r>
          </a:p>
          <a:p>
            <a:pPr fontAlgn="base"/>
            <a:endParaRPr lang="en-US" dirty="0">
              <a:latin typeface="Times New Roman" panose="02020603050405020304" pitchFamily="18" charset="0"/>
              <a:cs typeface="Times New Roman" panose="02020603050405020304" pitchFamily="18" charset="0"/>
            </a:endParaRPr>
          </a:p>
          <a:p>
            <a:pPr fontAlgn="base"/>
            <a:r>
              <a:rPr lang="en-US" dirty="0">
                <a:latin typeface="Times New Roman" panose="02020603050405020304" pitchFamily="18" charset="0"/>
                <a:cs typeface="Times New Roman" panose="02020603050405020304" pitchFamily="18" charset="0"/>
              </a:rPr>
              <a:t>The rapid cooling leads to the gas condensing into molecular clusters</a:t>
            </a:r>
          </a:p>
          <a:p>
            <a:pPr fontAlgn="base"/>
            <a:endParaRPr lang="en-US" dirty="0">
              <a:latin typeface="Times New Roman" panose="02020603050405020304" pitchFamily="18" charset="0"/>
              <a:cs typeface="Times New Roman" panose="02020603050405020304" pitchFamily="18" charset="0"/>
            </a:endParaRPr>
          </a:p>
          <a:p>
            <a:pPr fontAlgn="base"/>
            <a:r>
              <a:rPr lang="en-US" dirty="0" err="1">
                <a:latin typeface="Times New Roman" panose="02020603050405020304" pitchFamily="18" charset="0"/>
                <a:cs typeface="Times New Roman" panose="02020603050405020304" pitchFamily="18" charset="0"/>
              </a:rPr>
              <a:t>Hagena’s</a:t>
            </a:r>
            <a:r>
              <a:rPr lang="en-US" dirty="0">
                <a:latin typeface="Times New Roman" panose="02020603050405020304" pitchFamily="18" charset="0"/>
                <a:cs typeface="Times New Roman" panose="02020603050405020304" pitchFamily="18" charset="0"/>
              </a:rPr>
              <a:t> semi-empirical scaling gives a prediction of average cluster size [2]:</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object 3">
            <a:extLst>
              <a:ext uri="{FF2B5EF4-FFF2-40B4-BE49-F238E27FC236}">
                <a16:creationId xmlns:a16="http://schemas.microsoft.com/office/drawing/2014/main" id="{35A5B264-F98E-6306-30B9-D4D65417A26A}"/>
              </a:ext>
            </a:extLst>
          </p:cNvPr>
          <p:cNvSpPr/>
          <p:nvPr/>
        </p:nvSpPr>
        <p:spPr>
          <a:xfrm>
            <a:off x="838199" y="1728001"/>
            <a:ext cx="10615147" cy="4371463"/>
          </a:xfrm>
          <a:custGeom>
            <a:avLst/>
            <a:gdLst/>
            <a:ahLst/>
            <a:cxnLst/>
            <a:rect l="l" t="t" r="r" b="b"/>
            <a:pathLst>
              <a:path w="10515600" h="4351655">
                <a:moveTo>
                  <a:pt x="0" y="0"/>
                </a:moveTo>
                <a:lnTo>
                  <a:pt x="10515600" y="0"/>
                </a:lnTo>
                <a:lnTo>
                  <a:pt x="10515600" y="4351338"/>
                </a:lnTo>
                <a:lnTo>
                  <a:pt x="0" y="4351338"/>
                </a:lnTo>
                <a:lnTo>
                  <a:pt x="0" y="0"/>
                </a:lnTo>
                <a:close/>
              </a:path>
            </a:pathLst>
          </a:custGeom>
          <a:ln w="9525">
            <a:solidFill>
              <a:srgbClr val="4472C4"/>
            </a:solidFill>
          </a:ln>
        </p:spPr>
        <p:txBody>
          <a:bodyPr wrap="square" lIns="0" tIns="0" rIns="0" bIns="0" rtlCol="0"/>
          <a:lstStyle/>
          <a:p>
            <a:endParaRPr/>
          </a:p>
        </p:txBody>
      </p:sp>
      <p:pic>
        <p:nvPicPr>
          <p:cNvPr id="5" name="Picture 4">
            <a:extLst>
              <a:ext uri="{FF2B5EF4-FFF2-40B4-BE49-F238E27FC236}">
                <a16:creationId xmlns:a16="http://schemas.microsoft.com/office/drawing/2014/main" id="{12FD00D4-976B-5913-3940-D652CC6106E5}"/>
              </a:ext>
            </a:extLst>
          </p:cNvPr>
          <p:cNvPicPr>
            <a:picLocks noChangeAspect="1"/>
          </p:cNvPicPr>
          <p:nvPr/>
        </p:nvPicPr>
        <p:blipFill>
          <a:blip r:embed="rId3"/>
          <a:stretch>
            <a:fillRect/>
          </a:stretch>
        </p:blipFill>
        <p:spPr>
          <a:xfrm>
            <a:off x="2602472" y="4848398"/>
            <a:ext cx="3543300" cy="1054100"/>
          </a:xfrm>
          <a:prstGeom prst="rect">
            <a:avLst/>
          </a:prstGeom>
        </p:spPr>
      </p:pic>
      <p:pic>
        <p:nvPicPr>
          <p:cNvPr id="6" name="Picture 5">
            <a:extLst>
              <a:ext uri="{FF2B5EF4-FFF2-40B4-BE49-F238E27FC236}">
                <a16:creationId xmlns:a16="http://schemas.microsoft.com/office/drawing/2014/main" id="{1EA257A3-5E15-0D6D-193B-E26F8CC35B4A}"/>
              </a:ext>
            </a:extLst>
          </p:cNvPr>
          <p:cNvPicPr>
            <a:picLocks noChangeAspect="1"/>
          </p:cNvPicPr>
          <p:nvPr/>
        </p:nvPicPr>
        <p:blipFill>
          <a:blip r:embed="rId4"/>
          <a:stretch>
            <a:fillRect/>
          </a:stretch>
        </p:blipFill>
        <p:spPr>
          <a:xfrm>
            <a:off x="6367526" y="4848398"/>
            <a:ext cx="2578100" cy="812800"/>
          </a:xfrm>
          <a:prstGeom prst="rect">
            <a:avLst/>
          </a:prstGeom>
        </p:spPr>
      </p:pic>
    </p:spTree>
    <p:extLst>
      <p:ext uri="{BB962C8B-B14F-4D97-AF65-F5344CB8AC3E}">
        <p14:creationId xmlns:p14="http://schemas.microsoft.com/office/powerpoint/2010/main" val="3380369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CB1713-4412-01E7-AC36-7C07569C79D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0A8BC84A-D2BC-3BD2-7521-BFD9A46F5C01}"/>
              </a:ext>
            </a:extLst>
          </p:cNvPr>
          <p:cNvPicPr>
            <a:picLocks noChangeAspect="1"/>
          </p:cNvPicPr>
          <p:nvPr/>
        </p:nvPicPr>
        <p:blipFill>
          <a:blip r:embed="rId2"/>
          <a:stretch>
            <a:fillRect/>
          </a:stretch>
        </p:blipFill>
        <p:spPr>
          <a:xfrm>
            <a:off x="2700208" y="353384"/>
            <a:ext cx="6791583" cy="6010552"/>
          </a:xfrm>
          <a:prstGeom prst="rect">
            <a:avLst/>
          </a:prstGeom>
        </p:spPr>
      </p:pic>
      <p:sp>
        <p:nvSpPr>
          <p:cNvPr id="9" name="TextBox 8">
            <a:extLst>
              <a:ext uri="{FF2B5EF4-FFF2-40B4-BE49-F238E27FC236}">
                <a16:creationId xmlns:a16="http://schemas.microsoft.com/office/drawing/2014/main" id="{ACA0DCFA-C6F5-C3F9-364B-B0273DECE93A}"/>
              </a:ext>
            </a:extLst>
          </p:cNvPr>
          <p:cNvSpPr txBox="1"/>
          <p:nvPr/>
        </p:nvSpPr>
        <p:spPr>
          <a:xfrm>
            <a:off x="5807610" y="6335800"/>
            <a:ext cx="2715066" cy="369332"/>
          </a:xfrm>
          <a:prstGeom prst="rect">
            <a:avLst/>
          </a:prstGeom>
          <a:noFill/>
        </p:spPr>
        <p:txBody>
          <a:bodyPr wrap="square" rtlCol="0">
            <a:spAutoFit/>
          </a:bodyPr>
          <a:lstStyle/>
          <a:p>
            <a:r>
              <a:rPr lang="en-GB" b="1" dirty="0"/>
              <a:t>[2]</a:t>
            </a:r>
          </a:p>
        </p:txBody>
      </p:sp>
    </p:spTree>
    <p:extLst>
      <p:ext uri="{BB962C8B-B14F-4D97-AF65-F5344CB8AC3E}">
        <p14:creationId xmlns:p14="http://schemas.microsoft.com/office/powerpoint/2010/main" val="2846604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B0D5F-06FC-A55D-8EEA-7F6FAD9AD31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CF00193-583E-13B1-0D30-49DBFAE0D696}"/>
              </a:ext>
            </a:extLst>
          </p:cNvPr>
          <p:cNvSpPr txBox="1">
            <a:spLocks noGrp="1"/>
          </p:cNvSpPr>
          <p:nvPr>
            <p:ph type="title"/>
          </p:nvPr>
        </p:nvSpPr>
        <p:spPr>
          <a:xfrm>
            <a:off x="838200" y="682940"/>
            <a:ext cx="10515600" cy="689932"/>
          </a:xfrm>
          <a:prstGeom prst="rect">
            <a:avLst/>
          </a:prstGeom>
        </p:spPr>
        <p:txBody>
          <a:bodyPr vert="horz" wrap="square" lIns="0" tIns="12700" rIns="0" bIns="0" rtlCol="0">
            <a:spAutoFit/>
          </a:bodyPr>
          <a:lstStyle/>
          <a:p>
            <a:pPr marL="12700">
              <a:lnSpc>
                <a:spcPct val="100000"/>
              </a:lnSpc>
              <a:spcBef>
                <a:spcPts val="100"/>
              </a:spcBef>
            </a:pPr>
            <a:r>
              <a:rPr spc="-10" dirty="0">
                <a:latin typeface="Times New Roman" panose="02020603050405020304" pitchFamily="18" charset="0"/>
                <a:cs typeface="Times New Roman" panose="02020603050405020304" pitchFamily="18" charset="0"/>
              </a:rPr>
              <a:t>Outline</a:t>
            </a:r>
          </a:p>
        </p:txBody>
      </p:sp>
      <p:sp>
        <p:nvSpPr>
          <p:cNvPr id="3" name="object 3">
            <a:extLst>
              <a:ext uri="{FF2B5EF4-FFF2-40B4-BE49-F238E27FC236}">
                <a16:creationId xmlns:a16="http://schemas.microsoft.com/office/drawing/2014/main" id="{54CA8FAB-1914-0BD0-52B4-DFBF7E2DCFD0}"/>
              </a:ext>
            </a:extLst>
          </p:cNvPr>
          <p:cNvSpPr txBox="1"/>
          <p:nvPr/>
        </p:nvSpPr>
        <p:spPr>
          <a:xfrm>
            <a:off x="838200" y="1825625"/>
            <a:ext cx="10515600" cy="2850139"/>
          </a:xfrm>
          <a:prstGeom prst="rect">
            <a:avLst/>
          </a:prstGeom>
          <a:ln w="9525">
            <a:solidFill>
              <a:srgbClr val="4472C4"/>
            </a:solidFill>
          </a:ln>
        </p:spPr>
        <p:txBody>
          <a:bodyPr vert="horz" wrap="square" lIns="0" tIns="79375" rIns="0" bIns="0" rtlCol="0">
            <a:spAutoFit/>
          </a:bodyPr>
          <a:lstStyle/>
          <a:p>
            <a:pPr marL="372110" indent="-228600">
              <a:lnSpc>
                <a:spcPct val="100000"/>
              </a:lnSpc>
              <a:spcBef>
                <a:spcPts val="625"/>
              </a:spcBef>
              <a:buFont typeface="Arial"/>
              <a:buChar char="•"/>
              <a:tabLst>
                <a:tab pos="372110" algn="l"/>
              </a:tabLst>
            </a:pPr>
            <a:r>
              <a:rPr sz="1800" dirty="0">
                <a:solidFill>
                  <a:schemeClr val="bg1">
                    <a:lumMod val="50000"/>
                  </a:schemeClr>
                </a:solidFill>
                <a:latin typeface="Times New Roman" panose="02020603050405020304" pitchFamily="18" charset="0"/>
                <a:cs typeface="Times New Roman" panose="02020603050405020304" pitchFamily="18" charset="0"/>
              </a:rPr>
              <a:t>Introduction</a:t>
            </a:r>
            <a:r>
              <a:rPr lang="en-GB" sz="1800" spc="-20" dirty="0">
                <a:solidFill>
                  <a:schemeClr val="bg1">
                    <a:lumMod val="50000"/>
                  </a:schemeClr>
                </a:solidFill>
                <a:latin typeface="Times New Roman" panose="02020603050405020304" pitchFamily="18" charset="0"/>
                <a:cs typeface="Times New Roman" panose="02020603050405020304" pitchFamily="18" charset="0"/>
              </a:rPr>
              <a:t> </a:t>
            </a:r>
            <a:r>
              <a:rPr lang="en-GB" sz="1800" dirty="0">
                <a:solidFill>
                  <a:schemeClr val="bg1">
                    <a:lumMod val="50000"/>
                  </a:schemeClr>
                </a:solidFill>
                <a:latin typeface="Times New Roman" panose="02020603050405020304" pitchFamily="18" charset="0"/>
                <a:cs typeface="Times New Roman" panose="02020603050405020304" pitchFamily="18" charset="0"/>
              </a:rPr>
              <a:t>and</a:t>
            </a:r>
            <a:r>
              <a:rPr lang="en-GB" sz="1800" spc="-30" dirty="0">
                <a:solidFill>
                  <a:schemeClr val="bg1">
                    <a:lumMod val="50000"/>
                  </a:schemeClr>
                </a:solidFill>
                <a:latin typeface="Times New Roman" panose="02020603050405020304" pitchFamily="18" charset="0"/>
                <a:cs typeface="Times New Roman" panose="02020603050405020304" pitchFamily="18" charset="0"/>
              </a:rPr>
              <a:t> </a:t>
            </a:r>
            <a:r>
              <a:rPr lang="en-GB" sz="1800" spc="-10" dirty="0">
                <a:solidFill>
                  <a:schemeClr val="bg1">
                    <a:lumMod val="50000"/>
                  </a:schemeClr>
                </a:solidFill>
                <a:latin typeface="Times New Roman" panose="02020603050405020304" pitchFamily="18" charset="0"/>
                <a:cs typeface="Times New Roman" panose="02020603050405020304" pitchFamily="18" charset="0"/>
              </a:rPr>
              <a:t>Background</a:t>
            </a:r>
            <a:endParaRPr lang="en-GB" sz="1800" dirty="0">
              <a:solidFill>
                <a:schemeClr val="bg1">
                  <a:lumMod val="50000"/>
                </a:schemeClr>
              </a:solidFill>
              <a:latin typeface="Times New Roman" panose="02020603050405020304" pitchFamily="18" charset="0"/>
              <a:cs typeface="Times New Roman" panose="02020603050405020304" pitchFamily="18" charset="0"/>
            </a:endParaRPr>
          </a:p>
          <a:p>
            <a:pPr marL="829310" lvl="1" indent="-228600">
              <a:lnSpc>
                <a:spcPct val="100000"/>
              </a:lnSpc>
              <a:spcBef>
                <a:spcPts val="45"/>
              </a:spcBef>
              <a:buFont typeface="Arial"/>
              <a:buChar char="•"/>
              <a:tabLst>
                <a:tab pos="829310" algn="l"/>
              </a:tabLst>
            </a:pPr>
            <a:r>
              <a:rPr lang="en-GB" spc="-155" dirty="0">
                <a:solidFill>
                  <a:schemeClr val="bg1">
                    <a:lumMod val="50000"/>
                  </a:schemeClr>
                </a:solidFill>
                <a:latin typeface="Times New Roman" panose="02020603050405020304" pitchFamily="18" charset="0"/>
                <a:cs typeface="Times New Roman" panose="02020603050405020304" pitchFamily="18" charset="0"/>
              </a:rPr>
              <a:t>LWFA</a:t>
            </a:r>
            <a:endParaRPr lang="en-GB" sz="1800" spc="-10" dirty="0">
              <a:solidFill>
                <a:schemeClr val="bg1">
                  <a:lumMod val="50000"/>
                </a:schemeClr>
              </a:solidFill>
              <a:latin typeface="Times New Roman" panose="02020603050405020304" pitchFamily="18" charset="0"/>
              <a:cs typeface="Times New Roman" panose="02020603050405020304" pitchFamily="18" charset="0"/>
            </a:endParaRPr>
          </a:p>
          <a:p>
            <a:pPr marL="829310" lvl="1" indent="-228600">
              <a:lnSpc>
                <a:spcPct val="100000"/>
              </a:lnSpc>
              <a:spcBef>
                <a:spcPts val="45"/>
              </a:spcBef>
              <a:buFont typeface="Arial"/>
              <a:buChar char="•"/>
              <a:tabLst>
                <a:tab pos="829310" algn="l"/>
              </a:tabLst>
            </a:pPr>
            <a:r>
              <a:rPr lang="en-GB" sz="1800" spc="-10" dirty="0">
                <a:solidFill>
                  <a:schemeClr val="bg1">
                    <a:lumMod val="50000"/>
                  </a:schemeClr>
                </a:solidFill>
                <a:latin typeface="Times New Roman" panose="02020603050405020304" pitchFamily="18" charset="0"/>
                <a:cs typeface="Times New Roman" panose="02020603050405020304" pitchFamily="18" charset="0"/>
              </a:rPr>
              <a:t>Cluster-enhanced injection</a:t>
            </a:r>
            <a:endParaRPr lang="en-GB" spc="-10" dirty="0">
              <a:solidFill>
                <a:schemeClr val="bg1">
                  <a:lumMod val="50000"/>
                </a:schemeClr>
              </a:solidFill>
              <a:latin typeface="Times New Roman" panose="02020603050405020304" pitchFamily="18" charset="0"/>
              <a:cs typeface="Times New Roman" panose="02020603050405020304" pitchFamily="18" charset="0"/>
            </a:endParaRPr>
          </a:p>
          <a:p>
            <a:pPr marL="829310" lvl="1" indent="-228600">
              <a:lnSpc>
                <a:spcPct val="100000"/>
              </a:lnSpc>
              <a:spcBef>
                <a:spcPts val="45"/>
              </a:spcBef>
              <a:buFont typeface="Arial"/>
              <a:buChar char="•"/>
              <a:tabLst>
                <a:tab pos="829310" algn="l"/>
              </a:tabLst>
            </a:pPr>
            <a:endParaRPr sz="1800" dirty="0">
              <a:latin typeface="Times New Roman" panose="02020603050405020304" pitchFamily="18" charset="0"/>
              <a:cs typeface="Times New Roman" panose="02020603050405020304" pitchFamily="18" charset="0"/>
            </a:endParaRPr>
          </a:p>
          <a:p>
            <a:pPr marL="372110" indent="-228600">
              <a:lnSpc>
                <a:spcPct val="100000"/>
              </a:lnSpc>
              <a:buFont typeface="Arial"/>
              <a:buChar char="•"/>
              <a:tabLst>
                <a:tab pos="372110" algn="l"/>
              </a:tabLst>
            </a:pPr>
            <a:r>
              <a:rPr sz="1800" spc="-10" dirty="0">
                <a:latin typeface="Times New Roman" panose="02020603050405020304" pitchFamily="18" charset="0"/>
                <a:cs typeface="Times New Roman" panose="02020603050405020304" pitchFamily="18" charset="0"/>
              </a:rPr>
              <a:t>Studies</a:t>
            </a:r>
            <a:endParaRPr sz="1800" dirty="0">
              <a:latin typeface="Times New Roman" panose="02020603050405020304" pitchFamily="18" charset="0"/>
              <a:cs typeface="Times New Roman" panose="02020603050405020304" pitchFamily="18" charset="0"/>
            </a:endParaRPr>
          </a:p>
          <a:p>
            <a:pPr marL="829310" lvl="1" indent="-228600">
              <a:lnSpc>
                <a:spcPct val="100000"/>
              </a:lnSpc>
              <a:spcBef>
                <a:spcPts val="45"/>
              </a:spcBef>
              <a:buFont typeface="Arial"/>
              <a:buChar char="•"/>
              <a:tabLst>
                <a:tab pos="829310" algn="l"/>
              </a:tabLst>
            </a:pPr>
            <a:r>
              <a:rPr lang="en-GB" sz="1800" dirty="0">
                <a:latin typeface="Times New Roman" panose="02020603050405020304" pitchFamily="18" charset="0"/>
                <a:cs typeface="Times New Roman" panose="02020603050405020304" pitchFamily="18" charset="0"/>
              </a:rPr>
              <a:t>Aims of the proje</a:t>
            </a:r>
            <a:r>
              <a:rPr lang="en-GB" dirty="0">
                <a:latin typeface="Times New Roman" panose="02020603050405020304" pitchFamily="18" charset="0"/>
                <a:cs typeface="Times New Roman" panose="02020603050405020304" pitchFamily="18" charset="0"/>
              </a:rPr>
              <a:t>ct</a:t>
            </a:r>
          </a:p>
          <a:p>
            <a:pPr marL="829310" lvl="1" indent="-228600">
              <a:lnSpc>
                <a:spcPct val="100000"/>
              </a:lnSpc>
              <a:spcBef>
                <a:spcPts val="45"/>
              </a:spcBef>
              <a:buFont typeface="Arial"/>
              <a:buChar char="•"/>
              <a:tabLst>
                <a:tab pos="829310" algn="l"/>
              </a:tabLst>
            </a:pPr>
            <a:r>
              <a:rPr lang="en-GB" sz="1800" dirty="0">
                <a:latin typeface="Times New Roman" panose="02020603050405020304" pitchFamily="18" charset="0"/>
                <a:cs typeface="Times New Roman" panose="02020603050405020304" pitchFamily="18" charset="0"/>
              </a:rPr>
              <a:t>Heating mechanisms &amp; convergence tests</a:t>
            </a:r>
          </a:p>
          <a:p>
            <a:pPr marL="829310" lvl="1" indent="-228600">
              <a:lnSpc>
                <a:spcPct val="100000"/>
              </a:lnSpc>
              <a:spcBef>
                <a:spcPts val="45"/>
              </a:spcBef>
              <a:buFont typeface="Arial"/>
              <a:buChar char="•"/>
              <a:tabLst>
                <a:tab pos="829310" algn="l"/>
              </a:tabLst>
            </a:pPr>
            <a:r>
              <a:rPr lang="en-GB" dirty="0">
                <a:latin typeface="Times New Roman" panose="02020603050405020304" pitchFamily="18" charset="0"/>
                <a:cs typeface="Times New Roman" panose="02020603050405020304" pitchFamily="18" charset="0"/>
              </a:rPr>
              <a:t>Cluster expansion under the laser pre-pulse</a:t>
            </a:r>
          </a:p>
          <a:p>
            <a:pPr marL="829310" lvl="1" indent="-228600">
              <a:lnSpc>
                <a:spcPct val="100000"/>
              </a:lnSpc>
              <a:spcBef>
                <a:spcPts val="45"/>
              </a:spcBef>
              <a:buFont typeface="Arial"/>
              <a:buChar char="•"/>
              <a:tabLst>
                <a:tab pos="829310" algn="l"/>
              </a:tabLst>
            </a:pPr>
            <a:endParaRPr sz="1800" dirty="0">
              <a:latin typeface="Times New Roman" panose="02020603050405020304" pitchFamily="18" charset="0"/>
              <a:cs typeface="Times New Roman" panose="02020603050405020304" pitchFamily="18" charset="0"/>
            </a:endParaRPr>
          </a:p>
          <a:p>
            <a:pPr marL="372110" indent="-228600">
              <a:lnSpc>
                <a:spcPct val="100000"/>
              </a:lnSpc>
              <a:buFont typeface="Arial"/>
              <a:buChar char="•"/>
              <a:tabLst>
                <a:tab pos="372110" algn="l"/>
              </a:tabLst>
            </a:pPr>
            <a:r>
              <a:rPr sz="1800" spc="-10" dirty="0">
                <a:solidFill>
                  <a:schemeClr val="bg1">
                    <a:lumMod val="50000"/>
                  </a:schemeClr>
                </a:solidFill>
                <a:latin typeface="Times New Roman" panose="02020603050405020304" pitchFamily="18" charset="0"/>
                <a:cs typeface="Times New Roman" panose="02020603050405020304" pitchFamily="18" charset="0"/>
              </a:rPr>
              <a:t>Conclusion</a:t>
            </a:r>
            <a:r>
              <a:rPr lang="en-GB" sz="1800" spc="-10" dirty="0">
                <a:solidFill>
                  <a:schemeClr val="bg1">
                    <a:lumMod val="50000"/>
                  </a:schemeClr>
                </a:solidFill>
                <a:latin typeface="Times New Roman" panose="02020603050405020304" pitchFamily="18" charset="0"/>
                <a:cs typeface="Times New Roman" panose="02020603050405020304" pitchFamily="18" charset="0"/>
              </a:rPr>
              <a:t> &amp; Outlook</a:t>
            </a:r>
            <a:endParaRPr sz="1800" dirty="0">
              <a:solidFill>
                <a:schemeClr val="bg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08333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682940"/>
            <a:ext cx="10515600" cy="689932"/>
          </a:xfrm>
          <a:prstGeom prst="rect">
            <a:avLst/>
          </a:prstGeom>
        </p:spPr>
        <p:txBody>
          <a:bodyPr vert="horz" wrap="square" lIns="0" tIns="12700" rIns="0" bIns="0" rtlCol="0">
            <a:spAutoFit/>
          </a:bodyPr>
          <a:lstStyle/>
          <a:p>
            <a:pPr marL="12700">
              <a:lnSpc>
                <a:spcPct val="100000"/>
              </a:lnSpc>
              <a:spcBef>
                <a:spcPts val="100"/>
              </a:spcBef>
            </a:pPr>
            <a:r>
              <a:rPr spc="-50" dirty="0">
                <a:latin typeface="Times New Roman" panose="02020603050405020304" pitchFamily="18" charset="0"/>
                <a:cs typeface="Times New Roman" panose="02020603050405020304" pitchFamily="18" charset="0"/>
              </a:rPr>
              <a:t>Aims</a:t>
            </a:r>
            <a:r>
              <a:rPr spc="-5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of</a:t>
            </a:r>
            <a:r>
              <a:rPr spc="-60" dirty="0">
                <a:latin typeface="Times New Roman" panose="02020603050405020304" pitchFamily="18" charset="0"/>
                <a:cs typeface="Times New Roman" panose="02020603050405020304" pitchFamily="18" charset="0"/>
              </a:rPr>
              <a:t> </a:t>
            </a:r>
            <a:r>
              <a:rPr spc="70" dirty="0">
                <a:latin typeface="Times New Roman" panose="02020603050405020304" pitchFamily="18" charset="0"/>
                <a:cs typeface="Times New Roman" panose="02020603050405020304" pitchFamily="18" charset="0"/>
              </a:rPr>
              <a:t>the</a:t>
            </a:r>
            <a:r>
              <a:rPr spc="-5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project</a:t>
            </a:r>
          </a:p>
        </p:txBody>
      </p:sp>
      <p:sp>
        <p:nvSpPr>
          <p:cNvPr id="3" name="object 3"/>
          <p:cNvSpPr/>
          <p:nvPr/>
        </p:nvSpPr>
        <p:spPr>
          <a:xfrm>
            <a:off x="838199" y="1728001"/>
            <a:ext cx="10615147" cy="2750481"/>
          </a:xfrm>
          <a:custGeom>
            <a:avLst/>
            <a:gdLst/>
            <a:ahLst/>
            <a:cxnLst/>
            <a:rect l="l" t="t" r="r" b="b"/>
            <a:pathLst>
              <a:path w="10515600" h="4351655">
                <a:moveTo>
                  <a:pt x="0" y="0"/>
                </a:moveTo>
                <a:lnTo>
                  <a:pt x="10515600" y="0"/>
                </a:lnTo>
                <a:lnTo>
                  <a:pt x="10515600" y="4351338"/>
                </a:lnTo>
                <a:lnTo>
                  <a:pt x="0" y="4351338"/>
                </a:lnTo>
                <a:lnTo>
                  <a:pt x="0" y="0"/>
                </a:lnTo>
                <a:close/>
              </a:path>
            </a:pathLst>
          </a:custGeom>
          <a:ln w="9525">
            <a:solidFill>
              <a:srgbClr val="4472C4"/>
            </a:solidFill>
          </a:ln>
        </p:spPr>
        <p:txBody>
          <a:bodyPr wrap="square" lIns="0" tIns="0" rIns="0" bIns="0" rtlCol="0"/>
          <a:lstStyle/>
          <a:p>
            <a:endParaRPr/>
          </a:p>
        </p:txBody>
      </p:sp>
      <p:sp>
        <p:nvSpPr>
          <p:cNvPr id="4" name="object 4"/>
          <p:cNvSpPr txBox="1"/>
          <p:nvPr/>
        </p:nvSpPr>
        <p:spPr>
          <a:xfrm>
            <a:off x="969498" y="1784604"/>
            <a:ext cx="10483849" cy="3005310"/>
          </a:xfrm>
          <a:prstGeom prst="rect">
            <a:avLst/>
          </a:prstGeom>
        </p:spPr>
        <p:txBody>
          <a:bodyPr vert="horz" wrap="square" lIns="0" tIns="62865" rIns="0" bIns="0" rtlCol="0">
            <a:spAutoFit/>
          </a:bodyPr>
          <a:lstStyle/>
          <a:p>
            <a:pPr marL="354330" marR="5080" indent="-341630">
              <a:lnSpc>
                <a:spcPct val="89700"/>
              </a:lnSpc>
              <a:spcBef>
                <a:spcPts val="495"/>
              </a:spcBef>
              <a:buAutoNum type="arabicPeriod"/>
              <a:tabLst>
                <a:tab pos="355600" algn="l"/>
              </a:tabLst>
            </a:pPr>
            <a:r>
              <a:rPr lang="en-GB" sz="2000" dirty="0">
                <a:latin typeface="Times New Roman" panose="02020603050405020304" pitchFamily="18" charset="0"/>
                <a:cs typeface="Times New Roman" panose="02020603050405020304" pitchFamily="18" charset="0"/>
              </a:rPr>
              <a:t>Develop and validate 2D simulation </a:t>
            </a:r>
            <a:r>
              <a:rPr lang="en-GB" sz="2000" dirty="0" err="1">
                <a:latin typeface="Times New Roman" panose="02020603050405020304" pitchFamily="18" charset="0"/>
                <a:cs typeface="Times New Roman" panose="02020603050405020304" pitchFamily="18" charset="0"/>
              </a:rPr>
              <a:t>namelists</a:t>
            </a:r>
            <a:r>
              <a:rPr lang="en-GB" sz="2000" dirty="0">
                <a:latin typeface="Times New Roman" panose="02020603050405020304" pitchFamily="18" charset="0"/>
                <a:cs typeface="Times New Roman" panose="02020603050405020304" pitchFamily="18" charset="0"/>
              </a:rPr>
              <a:t> for modelling cluster-enhanced LWFA experiments</a:t>
            </a:r>
          </a:p>
          <a:p>
            <a:pPr marL="354330" marR="5080" indent="-341630">
              <a:lnSpc>
                <a:spcPct val="89700"/>
              </a:lnSpc>
              <a:spcBef>
                <a:spcPts val="495"/>
              </a:spcBef>
              <a:buAutoNum type="arabicPeriod"/>
              <a:tabLst>
                <a:tab pos="355600" algn="l"/>
              </a:tabLst>
            </a:pPr>
            <a:endParaRPr lang="en-GB" sz="2000" dirty="0">
              <a:latin typeface="Times New Roman" panose="02020603050405020304" pitchFamily="18" charset="0"/>
              <a:cs typeface="Times New Roman" panose="02020603050405020304" pitchFamily="18" charset="0"/>
            </a:endParaRPr>
          </a:p>
          <a:p>
            <a:pPr marL="354330" marR="5080" indent="-341630">
              <a:lnSpc>
                <a:spcPct val="89700"/>
              </a:lnSpc>
              <a:spcBef>
                <a:spcPts val="495"/>
              </a:spcBef>
              <a:buAutoNum type="arabicPeriod"/>
              <a:tabLst>
                <a:tab pos="355600" algn="l"/>
              </a:tabLst>
            </a:pPr>
            <a:r>
              <a:rPr lang="en-GB" sz="2000" dirty="0">
                <a:latin typeface="Times New Roman" panose="02020603050405020304" pitchFamily="18" charset="0"/>
                <a:cs typeface="Times New Roman" panose="02020603050405020304" pitchFamily="18" charset="0"/>
              </a:rPr>
              <a:t>Use </a:t>
            </a:r>
            <a:r>
              <a:rPr lang="en-GB" sz="2000" dirty="0" err="1">
                <a:latin typeface="Times New Roman" panose="02020603050405020304" pitchFamily="18" charset="0"/>
                <a:cs typeface="Times New Roman" panose="02020603050405020304" pitchFamily="18" charset="0"/>
              </a:rPr>
              <a:t>Smilei</a:t>
            </a:r>
            <a:r>
              <a:rPr lang="en-GB" sz="2000" dirty="0">
                <a:latin typeface="Times New Roman" panose="02020603050405020304" pitchFamily="18" charset="0"/>
                <a:cs typeface="Times New Roman" panose="02020603050405020304" pitchFamily="18" charset="0"/>
              </a:rPr>
              <a:t> to simulate methane cluster behaviour using the measured Gemini experiment </a:t>
            </a:r>
            <a:r>
              <a:rPr lang="en-GB" sz="2000" dirty="0" err="1">
                <a:latin typeface="Times New Roman" panose="02020603050405020304" pitchFamily="18" charset="0"/>
                <a:cs typeface="Times New Roman" panose="02020603050405020304" pitchFamily="18" charset="0"/>
              </a:rPr>
              <a:t>prepulse</a:t>
            </a:r>
            <a:endParaRPr lang="en-GB" sz="2000" dirty="0">
              <a:latin typeface="Times New Roman" panose="02020603050405020304" pitchFamily="18" charset="0"/>
              <a:cs typeface="Times New Roman" panose="02020603050405020304" pitchFamily="18" charset="0"/>
            </a:endParaRPr>
          </a:p>
          <a:p>
            <a:pPr marL="354330" marR="5080" indent="-341630">
              <a:lnSpc>
                <a:spcPct val="89700"/>
              </a:lnSpc>
              <a:spcBef>
                <a:spcPts val="495"/>
              </a:spcBef>
              <a:buAutoNum type="arabicPeriod"/>
              <a:tabLst>
                <a:tab pos="355600" algn="l"/>
              </a:tabLst>
            </a:pPr>
            <a:endParaRPr lang="en-GB" sz="2000" dirty="0">
              <a:latin typeface="Times New Roman" panose="02020603050405020304" pitchFamily="18" charset="0"/>
              <a:cs typeface="Times New Roman" panose="02020603050405020304" pitchFamily="18" charset="0"/>
            </a:endParaRPr>
          </a:p>
          <a:p>
            <a:pPr marL="354330" marR="5080" indent="-341630">
              <a:lnSpc>
                <a:spcPct val="89700"/>
              </a:lnSpc>
              <a:spcBef>
                <a:spcPts val="495"/>
              </a:spcBef>
              <a:buAutoNum type="arabicPeriod"/>
              <a:tabLst>
                <a:tab pos="355600" algn="l"/>
              </a:tabLst>
            </a:pPr>
            <a:r>
              <a:rPr lang="en-GB" sz="2000" dirty="0">
                <a:latin typeface="Times New Roman" panose="02020603050405020304" pitchFamily="18" charset="0"/>
                <a:cs typeface="Times New Roman" panose="02020603050405020304" pitchFamily="18" charset="0"/>
              </a:rPr>
              <a:t>Determine the extent to which clusters expand under the laser pre-pulse</a:t>
            </a:r>
          </a:p>
          <a:p>
            <a:pPr marL="354330" marR="5080" indent="-341630">
              <a:lnSpc>
                <a:spcPct val="89700"/>
              </a:lnSpc>
              <a:spcBef>
                <a:spcPts val="495"/>
              </a:spcBef>
              <a:buAutoNum type="arabicPeriod"/>
              <a:tabLst>
                <a:tab pos="355600" algn="l"/>
              </a:tabLst>
            </a:pPr>
            <a:endParaRPr lang="en-GB" sz="2000" dirty="0">
              <a:latin typeface="Times New Roman" panose="02020603050405020304" pitchFamily="18" charset="0"/>
              <a:cs typeface="Times New Roman" panose="02020603050405020304" pitchFamily="18" charset="0"/>
            </a:endParaRPr>
          </a:p>
          <a:p>
            <a:pPr marL="354330" marR="5080" indent="-341630">
              <a:lnSpc>
                <a:spcPct val="89700"/>
              </a:lnSpc>
              <a:spcBef>
                <a:spcPts val="495"/>
              </a:spcBef>
              <a:buAutoNum type="arabicPeriod"/>
              <a:tabLst>
                <a:tab pos="355600" algn="l"/>
              </a:tabLst>
            </a:pPr>
            <a:r>
              <a:rPr lang="en-GB" sz="2000" dirty="0">
                <a:latin typeface="Times New Roman" panose="02020603050405020304" pitchFamily="18" charset="0"/>
                <a:cs typeface="Times New Roman" panose="02020603050405020304" pitchFamily="18" charset="0"/>
              </a:rPr>
              <a:t>Take pre-pulse results into LWFA simulations to compare injection results with and without clustered methane targets</a:t>
            </a:r>
          </a:p>
          <a:p>
            <a:pPr marL="354330" marR="5080" indent="-341630">
              <a:lnSpc>
                <a:spcPct val="89700"/>
              </a:lnSpc>
              <a:spcBef>
                <a:spcPts val="495"/>
              </a:spcBef>
              <a:buAutoNum type="arabicPeriod"/>
              <a:tabLst>
                <a:tab pos="355600" algn="l"/>
              </a:tabLst>
            </a:pPr>
            <a:endParaRPr lang="en-GB"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28230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504E5-3B15-507A-4945-F789A10DA3E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B96DCDB-5BB2-E2E1-87B8-B9BA1B473AE7}"/>
              </a:ext>
            </a:extLst>
          </p:cNvPr>
          <p:cNvSpPr txBox="1">
            <a:spLocks noGrp="1"/>
          </p:cNvSpPr>
          <p:nvPr>
            <p:ph type="title"/>
          </p:nvPr>
        </p:nvSpPr>
        <p:spPr>
          <a:xfrm>
            <a:off x="838200" y="682940"/>
            <a:ext cx="10515600" cy="689932"/>
          </a:xfrm>
          <a:prstGeom prst="rect">
            <a:avLst/>
          </a:prstGeom>
        </p:spPr>
        <p:txBody>
          <a:bodyPr vert="horz" wrap="square" lIns="0" tIns="12700" rIns="0" bIns="0" rtlCol="0">
            <a:spAutoFit/>
          </a:bodyPr>
          <a:lstStyle/>
          <a:p>
            <a:pPr marL="12700">
              <a:lnSpc>
                <a:spcPct val="100000"/>
              </a:lnSpc>
              <a:spcBef>
                <a:spcPts val="100"/>
              </a:spcBef>
            </a:pPr>
            <a:r>
              <a:rPr lang="en-GB" spc="-50" dirty="0">
                <a:latin typeface="Times New Roman" panose="02020603050405020304" pitchFamily="18" charset="0"/>
                <a:cs typeface="Times New Roman" panose="02020603050405020304" pitchFamily="18" charset="0"/>
              </a:rPr>
              <a:t>CH4 cluster heating mechanism</a:t>
            </a:r>
            <a:endParaRPr spc="-10" dirty="0">
              <a:latin typeface="Times New Roman" panose="02020603050405020304" pitchFamily="18" charset="0"/>
              <a:cs typeface="Times New Roman" panose="02020603050405020304" pitchFamily="18" charset="0"/>
            </a:endParaRPr>
          </a:p>
        </p:txBody>
      </p:sp>
      <p:sp>
        <p:nvSpPr>
          <p:cNvPr id="3" name="object 3">
            <a:extLst>
              <a:ext uri="{FF2B5EF4-FFF2-40B4-BE49-F238E27FC236}">
                <a16:creationId xmlns:a16="http://schemas.microsoft.com/office/drawing/2014/main" id="{D6897C4D-061F-854D-FFBF-3477226A0B23}"/>
              </a:ext>
            </a:extLst>
          </p:cNvPr>
          <p:cNvSpPr/>
          <p:nvPr/>
        </p:nvSpPr>
        <p:spPr>
          <a:xfrm>
            <a:off x="838199" y="1728001"/>
            <a:ext cx="10615147" cy="4827543"/>
          </a:xfrm>
          <a:custGeom>
            <a:avLst/>
            <a:gdLst/>
            <a:ahLst/>
            <a:cxnLst/>
            <a:rect l="l" t="t" r="r" b="b"/>
            <a:pathLst>
              <a:path w="10515600" h="4351655">
                <a:moveTo>
                  <a:pt x="0" y="0"/>
                </a:moveTo>
                <a:lnTo>
                  <a:pt x="10515600" y="0"/>
                </a:lnTo>
                <a:lnTo>
                  <a:pt x="10515600" y="4351338"/>
                </a:lnTo>
                <a:lnTo>
                  <a:pt x="0" y="4351338"/>
                </a:lnTo>
                <a:lnTo>
                  <a:pt x="0" y="0"/>
                </a:lnTo>
                <a:close/>
              </a:path>
            </a:pathLst>
          </a:custGeom>
          <a:ln w="9525">
            <a:solidFill>
              <a:srgbClr val="4472C4"/>
            </a:solidFill>
          </a:ln>
        </p:spPr>
        <p:txBody>
          <a:bodyPr wrap="square" lIns="0" tIns="0" rIns="0" bIns="0" rtlCol="0"/>
          <a:lstStyle/>
          <a:p>
            <a:endParaRPr/>
          </a:p>
        </p:txBody>
      </p:sp>
      <mc:AlternateContent xmlns:mc="http://schemas.openxmlformats.org/markup-compatibility/2006">
        <mc:Choice xmlns:a14="http://schemas.microsoft.com/office/drawing/2010/main" Requires="a14">
          <p:sp>
            <p:nvSpPr>
              <p:cNvPr id="4" name="object 4">
                <a:extLst>
                  <a:ext uri="{FF2B5EF4-FFF2-40B4-BE49-F238E27FC236}">
                    <a16:creationId xmlns:a16="http://schemas.microsoft.com/office/drawing/2014/main" id="{2B3D7666-7929-A36E-9BE0-388F605934A7}"/>
                  </a:ext>
                </a:extLst>
              </p:cNvPr>
              <p:cNvSpPr txBox="1"/>
              <p:nvPr/>
            </p:nvSpPr>
            <p:spPr>
              <a:xfrm>
                <a:off x="969498" y="1784604"/>
                <a:ext cx="10483847" cy="4028667"/>
              </a:xfrm>
              <a:prstGeom prst="rect">
                <a:avLst/>
              </a:prstGeom>
            </p:spPr>
            <p:txBody>
              <a:bodyPr vert="horz" wrap="square" lIns="0" tIns="62865" rIns="0" bIns="0" rtlCol="0">
                <a:spAutoFit/>
              </a:bodyPr>
              <a:lstStyle/>
              <a:p>
                <a:pPr marL="355600" marR="5080" indent="-342900">
                  <a:lnSpc>
                    <a:spcPct val="89700"/>
                  </a:lnSpc>
                  <a:spcBef>
                    <a:spcPts val="495"/>
                  </a:spcBef>
                  <a:buFont typeface="Arial" panose="020B0604020202020204" pitchFamily="34" charset="0"/>
                  <a:buChar char="•"/>
                  <a:tabLst>
                    <a:tab pos="355600" algn="l"/>
                  </a:tabLst>
                </a:pPr>
                <a:r>
                  <a:rPr lang="en-GB" sz="2000" b="1" dirty="0">
                    <a:latin typeface="Times New Roman" panose="02020603050405020304" pitchFamily="18" charset="0"/>
                    <a:cs typeface="Times New Roman" panose="02020603050405020304" pitchFamily="18" charset="0"/>
                  </a:rPr>
                  <a:t>Molecular clusters expand significantly during their interaction with the laser:</a:t>
                </a:r>
              </a:p>
              <a:p>
                <a:pPr marL="355600" marR="5080" indent="-342900">
                  <a:lnSpc>
                    <a:spcPct val="89700"/>
                  </a:lnSpc>
                  <a:spcBef>
                    <a:spcPts val="495"/>
                  </a:spcBef>
                  <a:buFont typeface="Arial" panose="020B0604020202020204" pitchFamily="34" charset="0"/>
                  <a:buChar char="•"/>
                  <a:tabLst>
                    <a:tab pos="355600" algn="l"/>
                  </a:tabLst>
                </a:pPr>
                <a:endParaRPr lang="en-GB" sz="2000" dirty="0">
                  <a:latin typeface="Times New Roman" panose="02020603050405020304" pitchFamily="18" charset="0"/>
                  <a:cs typeface="Times New Roman" panose="02020603050405020304" pitchFamily="18" charset="0"/>
                </a:endParaRPr>
              </a:p>
              <a:p>
                <a:pPr marL="355600" marR="5080" indent="-342900">
                  <a:lnSpc>
                    <a:spcPct val="89700"/>
                  </a:lnSpc>
                  <a:spcBef>
                    <a:spcPts val="495"/>
                  </a:spcBef>
                  <a:buFontTx/>
                  <a:buChar char="-"/>
                  <a:tabLst>
                    <a:tab pos="355600" algn="l"/>
                  </a:tabLst>
                </a:pPr>
                <a:r>
                  <a:rPr lang="en-GB" sz="2000" dirty="0">
                    <a:latin typeface="Times New Roman" panose="02020603050405020304" pitchFamily="18" charset="0"/>
                    <a:cs typeface="Times New Roman" panose="02020603050405020304" pitchFamily="18" charset="0"/>
                  </a:rPr>
                  <a:t>The laser </a:t>
                </a:r>
                <a:r>
                  <a:rPr lang="en-GB" sz="2000" dirty="0" err="1">
                    <a:latin typeface="Times New Roman" panose="02020603050405020304" pitchFamily="18" charset="0"/>
                    <a:cs typeface="Times New Roman" panose="02020603050405020304" pitchFamily="18" charset="0"/>
                  </a:rPr>
                  <a:t>prepulse</a:t>
                </a:r>
                <a:r>
                  <a:rPr lang="en-GB" sz="2000" dirty="0">
                    <a:latin typeface="Times New Roman" panose="02020603050405020304" pitchFamily="18" charset="0"/>
                    <a:cs typeface="Times New Roman" panose="02020603050405020304" pitchFamily="18" charset="0"/>
                  </a:rPr>
                  <a:t> ionises the cluster via field/tunnel ionisation, stripping electrons from the CH4</a:t>
                </a:r>
              </a:p>
              <a:p>
                <a:pPr marL="355600" marR="5080" indent="-342900">
                  <a:lnSpc>
                    <a:spcPct val="89700"/>
                  </a:lnSpc>
                  <a:spcBef>
                    <a:spcPts val="495"/>
                  </a:spcBef>
                  <a:buFontTx/>
                  <a:buChar char="-"/>
                  <a:tabLst>
                    <a:tab pos="355600" algn="l"/>
                  </a:tabLst>
                </a:pPr>
                <a:endParaRPr lang="en-GB" sz="2000" dirty="0">
                  <a:latin typeface="Times New Roman" panose="02020603050405020304" pitchFamily="18" charset="0"/>
                  <a:cs typeface="Times New Roman" panose="02020603050405020304" pitchFamily="18" charset="0"/>
                </a:endParaRPr>
              </a:p>
              <a:p>
                <a:pPr marL="355600" marR="5080" indent="-342900">
                  <a:lnSpc>
                    <a:spcPct val="89700"/>
                  </a:lnSpc>
                  <a:spcBef>
                    <a:spcPts val="495"/>
                  </a:spcBef>
                  <a:buFontTx/>
                  <a:buChar char="-"/>
                  <a:tabLst>
                    <a:tab pos="355600" algn="l"/>
                  </a:tabLst>
                </a:pPr>
                <a:r>
                  <a:rPr lang="en-GB" sz="2000" dirty="0">
                    <a:latin typeface="Times New Roman" panose="02020603050405020304" pitchFamily="18" charset="0"/>
                    <a:cs typeface="Times New Roman" panose="02020603050405020304" pitchFamily="18" charset="0"/>
                  </a:rPr>
                  <a:t>These electrons get heated by the laser field (above-threshold heating during ionisation), gaining KE and escaping the cluster</a:t>
                </a:r>
              </a:p>
              <a:p>
                <a:pPr marL="355600" marR="5080" indent="-342900">
                  <a:lnSpc>
                    <a:spcPct val="89700"/>
                  </a:lnSpc>
                  <a:spcBef>
                    <a:spcPts val="495"/>
                  </a:spcBef>
                  <a:buFontTx/>
                  <a:buChar char="-"/>
                  <a:tabLst>
                    <a:tab pos="355600" algn="l"/>
                  </a:tabLst>
                </a:pPr>
                <a:endParaRPr lang="en-GB" sz="2000" dirty="0">
                  <a:latin typeface="Times New Roman" panose="02020603050405020304" pitchFamily="18" charset="0"/>
                  <a:cs typeface="Times New Roman" panose="02020603050405020304" pitchFamily="18" charset="0"/>
                </a:endParaRPr>
              </a:p>
              <a:p>
                <a:pPr marL="355600" marR="5080" indent="-342900">
                  <a:lnSpc>
                    <a:spcPct val="89700"/>
                  </a:lnSpc>
                  <a:spcBef>
                    <a:spcPts val="495"/>
                  </a:spcBef>
                  <a:buFontTx/>
                  <a:buChar char="-"/>
                  <a:tabLst>
                    <a:tab pos="355600" algn="l"/>
                  </a:tabLst>
                </a:pPr>
                <a:r>
                  <a:rPr lang="en-GB" sz="2000" dirty="0">
                    <a:latin typeface="Times New Roman" panose="02020603050405020304" pitchFamily="18" charset="0"/>
                    <a:cs typeface="Times New Roman" panose="02020603050405020304" pitchFamily="18" charset="0"/>
                  </a:rPr>
                  <a:t>A positive space charge electric field develops in the cluster</a:t>
                </a:r>
              </a:p>
              <a:p>
                <a:pPr marL="355600" marR="5080" indent="-342900">
                  <a:lnSpc>
                    <a:spcPct val="89700"/>
                  </a:lnSpc>
                  <a:spcBef>
                    <a:spcPts val="495"/>
                  </a:spcBef>
                  <a:buFontTx/>
                  <a:buChar char="-"/>
                  <a:tabLst>
                    <a:tab pos="355600" algn="l"/>
                  </a:tabLst>
                </a:pPr>
                <a:endParaRPr lang="en-GB" sz="2000" dirty="0">
                  <a:latin typeface="Times New Roman" panose="02020603050405020304" pitchFamily="18" charset="0"/>
                  <a:cs typeface="Times New Roman" panose="02020603050405020304" pitchFamily="18" charset="0"/>
                </a:endParaRPr>
              </a:p>
              <a:p>
                <a:pPr marL="355600" marR="5080" indent="-342900">
                  <a:lnSpc>
                    <a:spcPct val="89700"/>
                  </a:lnSpc>
                  <a:spcBef>
                    <a:spcPts val="495"/>
                  </a:spcBef>
                  <a:buFontTx/>
                  <a:buChar char="-"/>
                  <a:tabLst>
                    <a:tab pos="355600" algn="l"/>
                  </a:tabLst>
                </a:pPr>
                <a:r>
                  <a:rPr lang="en-GB" sz="2000" dirty="0">
                    <a:latin typeface="Times New Roman" panose="02020603050405020304" pitchFamily="18" charset="0"/>
                    <a:cs typeface="Times New Roman" panose="02020603050405020304" pitchFamily="18" charset="0"/>
                  </a:rPr>
                  <a:t>CH4 ions get pushed outwards by this electrostatic field (</a:t>
                </a:r>
                <a:r>
                  <a:rPr lang="en-GB" sz="2000" b="1" dirty="0">
                    <a:latin typeface="Times New Roman" panose="02020603050405020304" pitchFamily="18" charset="0"/>
                    <a:cs typeface="Times New Roman" panose="02020603050405020304" pitchFamily="18" charset="0"/>
                  </a:rPr>
                  <a:t>Coulomb/Hydrodynamic expansion</a:t>
                </a:r>
                <a:r>
                  <a:rPr lang="en-GB" sz="2000" dirty="0">
                    <a:latin typeface="Times New Roman" panose="02020603050405020304" pitchFamily="18" charset="0"/>
                    <a:cs typeface="Times New Roman" panose="02020603050405020304" pitchFamily="18" charset="0"/>
                  </a:rPr>
                  <a:t>)</a:t>
                </a:r>
              </a:p>
              <a:p>
                <a:pPr marL="355600" marR="5080" indent="-342900">
                  <a:lnSpc>
                    <a:spcPct val="89700"/>
                  </a:lnSpc>
                  <a:spcBef>
                    <a:spcPts val="495"/>
                  </a:spcBef>
                  <a:buFontTx/>
                  <a:buChar char="-"/>
                  <a:tabLst>
                    <a:tab pos="355600" algn="l"/>
                  </a:tabLst>
                </a:pPr>
                <a:endParaRPr lang="en-GB" sz="2000" dirty="0">
                  <a:latin typeface="Times New Roman" panose="02020603050405020304" pitchFamily="18" charset="0"/>
                  <a:cs typeface="Times New Roman" panose="02020603050405020304" pitchFamily="18" charset="0"/>
                </a:endParaRPr>
              </a:p>
              <a:p>
                <a:pPr marL="355600" marR="5080" indent="-342900">
                  <a:lnSpc>
                    <a:spcPct val="89700"/>
                  </a:lnSpc>
                  <a:spcBef>
                    <a:spcPts val="495"/>
                  </a:spcBef>
                  <a:buFont typeface="Arial" panose="020B0604020202020204" pitchFamily="34" charset="0"/>
                  <a:buChar char="•"/>
                  <a:tabLst>
                    <a:tab pos="355600" algn="l"/>
                  </a:tabLst>
                </a:pPr>
                <a:r>
                  <a:rPr lang="en-GB" sz="2000" dirty="0">
                    <a:latin typeface="Times New Roman" panose="02020603050405020304" pitchFamily="18" charset="0"/>
                    <a:cs typeface="Times New Roman" panose="02020603050405020304" pitchFamily="18" charset="0"/>
                  </a:rPr>
                  <a:t>Numerical heating exaggerates expansion if the Debye length is not well-resolved (need </a:t>
                </a:r>
                <a14:m>
                  <m:oMath xmlns:m="http://schemas.openxmlformats.org/officeDocument/2006/math">
                    <m:sSub>
                      <m:sSubPr>
                        <m:ctrlPr>
                          <a:rPr lang="en-GB" sz="2000" i="1" smtClean="0">
                            <a:latin typeface="Cambria Math" panose="02040503050406030204" pitchFamily="18" charset="0"/>
                            <a:cs typeface="Times New Roman" panose="02020603050405020304" pitchFamily="18" charset="0"/>
                          </a:rPr>
                        </m:ctrlPr>
                      </m:sSubPr>
                      <m:e>
                        <m:r>
                          <a:rPr lang="en-GB" sz="2000" i="1" smtClean="0">
                            <a:latin typeface="Cambria Math" panose="02040503050406030204" pitchFamily="18" charset="0"/>
                            <a:ea typeface="Cambria Math" panose="02040503050406030204" pitchFamily="18" charset="0"/>
                            <a:cs typeface="Times New Roman" panose="02020603050405020304" pitchFamily="18" charset="0"/>
                          </a:rPr>
                          <m:t>𝜆</m:t>
                        </m:r>
                      </m:e>
                      <m:sub>
                        <m:r>
                          <a:rPr lang="en-GB" sz="2000" b="0" i="1" smtClean="0">
                            <a:latin typeface="Cambria Math" panose="02040503050406030204" pitchFamily="18" charset="0"/>
                            <a:cs typeface="Times New Roman" panose="02020603050405020304" pitchFamily="18" charset="0"/>
                          </a:rPr>
                          <m:t>𝐷</m:t>
                        </m:r>
                      </m:sub>
                    </m:sSub>
                    <m:r>
                      <a:rPr lang="en-GB" sz="2000" b="0" i="1" smtClean="0">
                        <a:latin typeface="Cambria Math" panose="02040503050406030204" pitchFamily="18" charset="0"/>
                        <a:cs typeface="Times New Roman" panose="02020603050405020304" pitchFamily="18" charset="0"/>
                      </a:rPr>
                      <m:t>≫ </m:t>
                    </m:r>
                    <m:r>
                      <m:rPr>
                        <m:sty m:val="p"/>
                      </m:rPr>
                      <a:rPr lang="el-GR" sz="2000" b="0" i="1" smtClean="0">
                        <a:latin typeface="Cambria Math" panose="02040503050406030204" pitchFamily="18" charset="0"/>
                        <a:ea typeface="Cambria Math" panose="02040503050406030204" pitchFamily="18" charset="0"/>
                        <a:cs typeface="Times New Roman" panose="02020603050405020304" pitchFamily="18" charset="0"/>
                      </a:rPr>
                      <m:t>Δ</m:t>
                    </m:r>
                    <m:r>
                      <a:rPr lang="en-GB" sz="2000" b="0" i="1" smtClean="0">
                        <a:latin typeface="Cambria Math" panose="02040503050406030204" pitchFamily="18" charset="0"/>
                        <a:ea typeface="Cambria Math" panose="02040503050406030204" pitchFamily="18" charset="0"/>
                        <a:cs typeface="Times New Roman" panose="02020603050405020304" pitchFamily="18" charset="0"/>
                      </a:rPr>
                      <m:t>𝑥</m:t>
                    </m:r>
                  </m:oMath>
                </a14:m>
                <a:r>
                  <a:rPr lang="en-GB" sz="2000" dirty="0">
                    <a:latin typeface="Times New Roman" panose="02020603050405020304" pitchFamily="18" charset="0"/>
                    <a:cs typeface="Times New Roman" panose="02020603050405020304" pitchFamily="18" charset="0"/>
                  </a:rPr>
                  <a:t>)</a:t>
                </a:r>
              </a:p>
            </p:txBody>
          </p:sp>
        </mc:Choice>
        <mc:Fallback>
          <p:sp>
            <p:nvSpPr>
              <p:cNvPr id="4" name="object 4">
                <a:extLst>
                  <a:ext uri="{FF2B5EF4-FFF2-40B4-BE49-F238E27FC236}">
                    <a16:creationId xmlns:a16="http://schemas.microsoft.com/office/drawing/2014/main" id="{2B3D7666-7929-A36E-9BE0-388F605934A7}"/>
                  </a:ext>
                </a:extLst>
              </p:cNvPr>
              <p:cNvSpPr txBox="1">
                <a:spLocks noRot="1" noChangeAspect="1" noMove="1" noResize="1" noEditPoints="1" noAdjustHandles="1" noChangeArrowheads="1" noChangeShapeType="1" noTextEdit="1"/>
              </p:cNvSpPr>
              <p:nvPr/>
            </p:nvSpPr>
            <p:spPr>
              <a:xfrm>
                <a:off x="969498" y="1784604"/>
                <a:ext cx="10483847" cy="4028667"/>
              </a:xfrm>
              <a:prstGeom prst="rect">
                <a:avLst/>
              </a:prstGeom>
              <a:blipFill>
                <a:blip r:embed="rId3"/>
                <a:stretch>
                  <a:fillRect l="-1211" t="-943" r="-1090" b="-3145"/>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28053EDB-5A3C-27FF-5765-4DB39DF794C6}"/>
              </a:ext>
            </a:extLst>
          </p:cNvPr>
          <p:cNvPicPr>
            <a:picLocks noChangeAspect="1"/>
          </p:cNvPicPr>
          <p:nvPr/>
        </p:nvPicPr>
        <p:blipFill>
          <a:blip r:embed="rId4"/>
          <a:stretch>
            <a:fillRect/>
          </a:stretch>
        </p:blipFill>
        <p:spPr>
          <a:xfrm>
            <a:off x="9902952" y="5813271"/>
            <a:ext cx="1450848" cy="679365"/>
          </a:xfrm>
          <a:prstGeom prst="rect">
            <a:avLst/>
          </a:prstGeom>
        </p:spPr>
      </p:pic>
      <p:sp>
        <p:nvSpPr>
          <p:cNvPr id="7" name="TextBox 6">
            <a:extLst>
              <a:ext uri="{FF2B5EF4-FFF2-40B4-BE49-F238E27FC236}">
                <a16:creationId xmlns:a16="http://schemas.microsoft.com/office/drawing/2014/main" id="{EBDBF8EE-C9F2-85CD-D7A5-36B901C5D92C}"/>
              </a:ext>
            </a:extLst>
          </p:cNvPr>
          <p:cNvSpPr txBox="1"/>
          <p:nvPr/>
        </p:nvSpPr>
        <p:spPr>
          <a:xfrm>
            <a:off x="5641144" y="2975317"/>
            <a:ext cx="65" cy="276999"/>
          </a:xfrm>
          <a:prstGeom prst="rect">
            <a:avLst/>
          </a:prstGeom>
          <a:noFill/>
        </p:spPr>
        <p:txBody>
          <a:bodyPr wrap="none" lIns="0" tIns="0" rIns="0" bIns="0" rtlCol="0">
            <a:spAutoFit/>
          </a:bodyPr>
          <a:lstStyle/>
          <a:p>
            <a:endParaRPr lang="en-US" dirty="0"/>
          </a:p>
        </p:txBody>
      </p:sp>
    </p:spTree>
    <p:extLst>
      <p:ext uri="{BB962C8B-B14F-4D97-AF65-F5344CB8AC3E}">
        <p14:creationId xmlns:p14="http://schemas.microsoft.com/office/powerpoint/2010/main" val="117391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51C716-EA18-9AB5-088D-4C4CD773BE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0EEF4C-D190-FC44-2923-FEB43D331A2B}"/>
              </a:ext>
            </a:extLst>
          </p:cNvPr>
          <p:cNvSpPr>
            <a:spLocks noGrp="1"/>
          </p:cNvSpPr>
          <p:nvPr>
            <p:ph type="title"/>
          </p:nvPr>
        </p:nvSpPr>
        <p:spPr>
          <a:xfrm>
            <a:off x="669429" y="876692"/>
            <a:ext cx="5426571" cy="531842"/>
          </a:xfrm>
        </p:spPr>
        <p:txBody>
          <a:bodyPr vert="horz" lIns="91440" tIns="45720" rIns="91440" bIns="45720" rtlCol="0" anchor="b">
            <a:normAutofit/>
          </a:bodyPr>
          <a:lstStyle/>
          <a:p>
            <a:r>
              <a:rPr lang="en-US" sz="3200" dirty="0">
                <a:latin typeface="Times New Roman" panose="02020603050405020304" pitchFamily="18" charset="0"/>
                <a:cs typeface="Times New Roman" panose="02020603050405020304" pitchFamily="18" charset="0"/>
              </a:rPr>
              <a:t>Gemini pre-pulse a0 evolution</a:t>
            </a:r>
            <a:endParaRPr lang="en-US" sz="3200" kern="1200" dirty="0">
              <a:latin typeface="Times New Roman" panose="02020603050405020304" pitchFamily="18" charset="0"/>
              <a:cs typeface="Times New Roman" panose="02020603050405020304" pitchFamily="18" charset="0"/>
            </a:endParaRPr>
          </a:p>
        </p:txBody>
      </p:sp>
      <p:sp>
        <p:nvSpPr>
          <p:cNvPr id="27" name="Content Placeholder 26">
            <a:extLst>
              <a:ext uri="{FF2B5EF4-FFF2-40B4-BE49-F238E27FC236}">
                <a16:creationId xmlns:a16="http://schemas.microsoft.com/office/drawing/2014/main" id="{597300DF-B4A9-F19A-8F3D-B8A873D5AD5B}"/>
              </a:ext>
            </a:extLst>
          </p:cNvPr>
          <p:cNvSpPr>
            <a:spLocks noGrp="1"/>
          </p:cNvSpPr>
          <p:nvPr>
            <p:ph idx="1"/>
          </p:nvPr>
        </p:nvSpPr>
        <p:spPr>
          <a:xfrm>
            <a:off x="876693" y="2009220"/>
            <a:ext cx="4130225" cy="3447832"/>
          </a:xfrm>
        </p:spPr>
        <p:txBody>
          <a:bodyPr anchor="t">
            <a:normAutofit/>
          </a:bodyPr>
          <a:lstStyle/>
          <a:p>
            <a:r>
              <a:rPr lang="en-GB" sz="2000" dirty="0">
                <a:latin typeface="Times New Roman" panose="02020603050405020304" pitchFamily="18" charset="0"/>
                <a:cs typeface="Times New Roman" panose="02020603050405020304" pitchFamily="18" charset="0"/>
              </a:rPr>
              <a:t>Gemini </a:t>
            </a:r>
            <a:r>
              <a:rPr lang="en-GB" sz="2000" dirty="0" err="1">
                <a:latin typeface="Times New Roman" panose="02020603050405020304" pitchFamily="18" charset="0"/>
                <a:cs typeface="Times New Roman" panose="02020603050405020304" pitchFamily="18" charset="0"/>
              </a:rPr>
              <a:t>prepulse</a:t>
            </a:r>
            <a:r>
              <a:rPr lang="en-GB" sz="2000" dirty="0">
                <a:latin typeface="Times New Roman" panose="02020603050405020304" pitchFamily="18" charset="0"/>
                <a:cs typeface="Times New Roman" panose="02020603050405020304" pitchFamily="18" charset="0"/>
              </a:rPr>
              <a:t> measurement used within simulations</a:t>
            </a:r>
          </a:p>
          <a:p>
            <a:endParaRPr lang="en-GB" sz="2000" dirty="0">
              <a:latin typeface="Times New Roman" panose="02020603050405020304" pitchFamily="18" charset="0"/>
              <a:cs typeface="Times New Roman" panose="02020603050405020304" pitchFamily="18" charset="0"/>
            </a:endParaRPr>
          </a:p>
          <a:p>
            <a:r>
              <a:rPr lang="en-GB" sz="2000" dirty="0">
                <a:latin typeface="Times New Roman" panose="02020603050405020304" pitchFamily="18" charset="0"/>
                <a:cs typeface="Times New Roman" panose="02020603050405020304" pitchFamily="18" charset="0"/>
              </a:rPr>
              <a:t>A 12 </a:t>
            </a:r>
            <a:r>
              <a:rPr lang="en-GB" sz="2000" dirty="0" err="1">
                <a:latin typeface="Times New Roman" panose="02020603050405020304" pitchFamily="18" charset="0"/>
                <a:cs typeface="Times New Roman" panose="02020603050405020304" pitchFamily="18" charset="0"/>
              </a:rPr>
              <a:t>ps</a:t>
            </a:r>
            <a:r>
              <a:rPr lang="en-GB" sz="2000" dirty="0">
                <a:latin typeface="Times New Roman" panose="02020603050405020304" pitchFamily="18" charset="0"/>
                <a:cs typeface="Times New Roman" panose="02020603050405020304" pitchFamily="18" charset="0"/>
              </a:rPr>
              <a:t> segment of the </a:t>
            </a:r>
            <a:r>
              <a:rPr lang="en-GB" sz="2000" dirty="0" err="1">
                <a:latin typeface="Times New Roman" panose="02020603050405020304" pitchFamily="18" charset="0"/>
                <a:cs typeface="Times New Roman" panose="02020603050405020304" pitchFamily="18" charset="0"/>
              </a:rPr>
              <a:t>prepulse</a:t>
            </a:r>
            <a:r>
              <a:rPr lang="en-GB" sz="2000" dirty="0">
                <a:latin typeface="Times New Roman" panose="02020603050405020304" pitchFamily="18" charset="0"/>
                <a:cs typeface="Times New Roman" panose="02020603050405020304" pitchFamily="18" charset="0"/>
              </a:rPr>
              <a:t> is used, with the peak at 10 </a:t>
            </a:r>
            <a:r>
              <a:rPr lang="en-GB" sz="2000" dirty="0" err="1">
                <a:latin typeface="Times New Roman" panose="02020603050405020304" pitchFamily="18" charset="0"/>
                <a:cs typeface="Times New Roman" panose="02020603050405020304" pitchFamily="18" charset="0"/>
              </a:rPr>
              <a:t>ps</a:t>
            </a:r>
            <a:endParaRPr lang="en-GB" sz="2000" dirty="0">
              <a:latin typeface="Times New Roman" panose="02020603050405020304" pitchFamily="18" charset="0"/>
              <a:cs typeface="Times New Roman" panose="02020603050405020304" pitchFamily="18" charset="0"/>
            </a:endParaRPr>
          </a:p>
          <a:p>
            <a:endParaRPr lang="en-GB" sz="2000" dirty="0">
              <a:latin typeface="Times New Roman" panose="02020603050405020304" pitchFamily="18" charset="0"/>
              <a:cs typeface="Times New Roman" panose="02020603050405020304" pitchFamily="18" charset="0"/>
            </a:endParaRPr>
          </a:p>
          <a:p>
            <a:r>
              <a:rPr lang="en-GB" sz="2000" dirty="0">
                <a:latin typeface="Times New Roman" panose="02020603050405020304" pitchFamily="18" charset="0"/>
                <a:cs typeface="Times New Roman" panose="02020603050405020304" pitchFamily="18" charset="0"/>
              </a:rPr>
              <a:t>Ionisation occurs roughly when the barrier suppression ionisation of CH4 is reached</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
        <p:nvSpPr>
          <p:cNvPr id="4" name="object 3">
            <a:extLst>
              <a:ext uri="{FF2B5EF4-FFF2-40B4-BE49-F238E27FC236}">
                <a16:creationId xmlns:a16="http://schemas.microsoft.com/office/drawing/2014/main" id="{4417BBE5-5BD4-7BD3-8DF2-CF6986F5C08D}"/>
              </a:ext>
            </a:extLst>
          </p:cNvPr>
          <p:cNvSpPr/>
          <p:nvPr/>
        </p:nvSpPr>
        <p:spPr>
          <a:xfrm>
            <a:off x="794815" y="2009220"/>
            <a:ext cx="4212103" cy="3223087"/>
          </a:xfrm>
          <a:custGeom>
            <a:avLst/>
            <a:gdLst/>
            <a:ahLst/>
            <a:cxnLst/>
            <a:rect l="l" t="t" r="r" b="b"/>
            <a:pathLst>
              <a:path w="10515600" h="4351655">
                <a:moveTo>
                  <a:pt x="0" y="0"/>
                </a:moveTo>
                <a:lnTo>
                  <a:pt x="10515600" y="0"/>
                </a:lnTo>
                <a:lnTo>
                  <a:pt x="10515600" y="4351338"/>
                </a:lnTo>
                <a:lnTo>
                  <a:pt x="0" y="4351338"/>
                </a:lnTo>
                <a:lnTo>
                  <a:pt x="0" y="0"/>
                </a:lnTo>
                <a:close/>
              </a:path>
            </a:pathLst>
          </a:custGeom>
          <a:ln w="9525">
            <a:solidFill>
              <a:srgbClr val="4472C4"/>
            </a:solidFill>
          </a:ln>
        </p:spPr>
        <p:txBody>
          <a:bodyPr wrap="square" lIns="0" tIns="0" rIns="0" bIns="0" rtlCol="0"/>
          <a:lstStyle/>
          <a:p>
            <a:endParaRPr/>
          </a:p>
        </p:txBody>
      </p:sp>
      <p:pic>
        <p:nvPicPr>
          <p:cNvPr id="8" name="Picture 7">
            <a:extLst>
              <a:ext uri="{FF2B5EF4-FFF2-40B4-BE49-F238E27FC236}">
                <a16:creationId xmlns:a16="http://schemas.microsoft.com/office/drawing/2014/main" id="{2C104D38-862B-3567-919F-FF1CFCA1443B}"/>
              </a:ext>
            </a:extLst>
          </p:cNvPr>
          <p:cNvPicPr>
            <a:picLocks noChangeAspect="1"/>
          </p:cNvPicPr>
          <p:nvPr/>
        </p:nvPicPr>
        <p:blipFill>
          <a:blip r:embed="rId3"/>
          <a:stretch>
            <a:fillRect/>
          </a:stretch>
        </p:blipFill>
        <p:spPr>
          <a:xfrm>
            <a:off x="5636952" y="1863636"/>
            <a:ext cx="6011438" cy="3929495"/>
          </a:xfrm>
          <a:prstGeom prst="rect">
            <a:avLst/>
          </a:prstGeom>
        </p:spPr>
      </p:pic>
    </p:spTree>
    <p:extLst>
      <p:ext uri="{BB962C8B-B14F-4D97-AF65-F5344CB8AC3E}">
        <p14:creationId xmlns:p14="http://schemas.microsoft.com/office/powerpoint/2010/main" val="2496141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C58E733-BDB5-1B67-4391-05C3610151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63A038-2A57-A437-A6ED-8131B070D980}"/>
              </a:ext>
            </a:extLst>
          </p:cNvPr>
          <p:cNvSpPr>
            <a:spLocks noGrp="1"/>
          </p:cNvSpPr>
          <p:nvPr>
            <p:ph type="title"/>
          </p:nvPr>
        </p:nvSpPr>
        <p:spPr>
          <a:xfrm>
            <a:off x="838199" y="615652"/>
            <a:ext cx="4595639" cy="542862"/>
          </a:xfrm>
        </p:spPr>
        <p:txBody>
          <a:bodyPr vert="horz" lIns="91440" tIns="45720" rIns="91440" bIns="45720" rtlCol="0" anchor="b">
            <a:normAutofit/>
          </a:bodyPr>
          <a:lstStyle/>
          <a:p>
            <a:r>
              <a:rPr lang="en-US" sz="3200" dirty="0">
                <a:latin typeface="Times New Roman" panose="02020603050405020304" pitchFamily="18" charset="0"/>
                <a:cs typeface="Times New Roman" panose="02020603050405020304" pitchFamily="18" charset="0"/>
              </a:rPr>
              <a:t>Heating convergence tests</a:t>
            </a:r>
            <a:endParaRPr lang="en-US" sz="3200" kern="1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7" name="Content Placeholder 26">
                <a:extLst>
                  <a:ext uri="{FF2B5EF4-FFF2-40B4-BE49-F238E27FC236}">
                    <a16:creationId xmlns:a16="http://schemas.microsoft.com/office/drawing/2014/main" id="{86E43A3C-B6D1-3057-DE10-9DCDF8AD3BBE}"/>
                  </a:ext>
                </a:extLst>
              </p:cNvPr>
              <p:cNvSpPr>
                <a:spLocks noGrp="1"/>
              </p:cNvSpPr>
              <p:nvPr>
                <p:ph idx="1"/>
              </p:nvPr>
            </p:nvSpPr>
            <p:spPr>
              <a:xfrm>
                <a:off x="876693" y="2053883"/>
                <a:ext cx="4212103" cy="3447832"/>
              </a:xfrm>
            </p:spPr>
            <p:txBody>
              <a:bodyPr anchor="t">
                <a:normAutofit fontScale="85000" lnSpcReduction="10000"/>
              </a:bodyPr>
              <a:lstStyle/>
              <a:p>
                <a:r>
                  <a:rPr lang="en-GB" sz="2000" dirty="0">
                    <a:latin typeface="Times New Roman" panose="02020603050405020304" pitchFamily="18" charset="0"/>
                    <a:cs typeface="Times New Roman" panose="02020603050405020304" pitchFamily="18" charset="0"/>
                  </a:rPr>
                  <a:t>Debye length of ~ 0.6 nm found in simulations, at a temperature of ~ 45 eV</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Cluster radius 50 nm, at a density of 130 </a:t>
                </a:r>
                <a14:m>
                  <m:oMath xmlns:m="http://schemas.openxmlformats.org/officeDocument/2006/math">
                    <m:sSub>
                      <m:sSubPr>
                        <m:ctrlPr>
                          <a:rPr lang="en-US" sz="2000" i="1" smtClean="0">
                            <a:latin typeface="Cambria Math" panose="02040503050406030204" pitchFamily="18" charset="0"/>
                            <a:cs typeface="Times New Roman" panose="02020603050405020304" pitchFamily="18" charset="0"/>
                          </a:rPr>
                        </m:ctrlPr>
                      </m:sSubPr>
                      <m:e>
                        <m:r>
                          <a:rPr lang="en-GB" sz="2000" i="1">
                            <a:latin typeface="Cambria Math" panose="02040503050406030204" pitchFamily="18" charset="0"/>
                            <a:cs typeface="Times New Roman" panose="02020603050405020304" pitchFamily="18" charset="0"/>
                          </a:rPr>
                          <m:t>𝑛</m:t>
                        </m:r>
                      </m:e>
                      <m:sub>
                        <m:r>
                          <a:rPr lang="en-GB" sz="2000" i="1">
                            <a:latin typeface="Cambria Math" panose="02040503050406030204" pitchFamily="18" charset="0"/>
                            <a:cs typeface="Times New Roman" panose="02020603050405020304" pitchFamily="18" charset="0"/>
                          </a:rPr>
                          <m:t>𝑐</m:t>
                        </m:r>
                      </m:sub>
                    </m:sSub>
                  </m:oMath>
                </a14:m>
                <a:r>
                  <a:rPr lang="en-US" sz="2000" dirty="0">
                    <a:latin typeface="Times New Roman" panose="02020603050405020304" pitchFamily="18" charset="0"/>
                    <a:cs typeface="Times New Roman" panose="02020603050405020304" pitchFamily="18" charset="0"/>
                  </a:rPr>
                  <a:t>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Laser </a:t>
                </a:r>
                <a14:m>
                  <m:oMath xmlns:m="http://schemas.openxmlformats.org/officeDocument/2006/math">
                    <m:r>
                      <a:rPr lang="en-US" sz="2000" i="1" smtClean="0">
                        <a:latin typeface="Cambria Math" panose="02040503050406030204" pitchFamily="18" charset="0"/>
                        <a:ea typeface="Cambria Math" panose="02040503050406030204" pitchFamily="18" charset="0"/>
                        <a:cs typeface="Times New Roman" panose="02020603050405020304" pitchFamily="18" charset="0"/>
                      </a:rPr>
                      <m:t>𝜆</m:t>
                    </m:r>
                  </m:oMath>
                </a14:m>
                <a:r>
                  <a:rPr lang="en-US" sz="2000" dirty="0">
                    <a:latin typeface="Times New Roman" panose="02020603050405020304" pitchFamily="18" charset="0"/>
                    <a:cs typeface="Times New Roman" panose="02020603050405020304" pitchFamily="18" charset="0"/>
                  </a:rPr>
                  <a:t> = 800 nm, so a resolution of  &gt;1000 cells-per-wavelength (</a:t>
                </a:r>
                <a:r>
                  <a:rPr lang="en-US" sz="2000" dirty="0" err="1">
                    <a:latin typeface="Times New Roman" panose="02020603050405020304" pitchFamily="18" charset="0"/>
                    <a:cs typeface="Times New Roman" panose="02020603050405020304" pitchFamily="18" charset="0"/>
                  </a:rPr>
                  <a:t>cpw</a:t>
                </a:r>
                <a:r>
                  <a:rPr lang="en-US" sz="2000" dirty="0">
                    <a:latin typeface="Times New Roman" panose="02020603050405020304" pitchFamily="18" charset="0"/>
                    <a:cs typeface="Times New Roman" panose="02020603050405020304" pitchFamily="18" charset="0"/>
                  </a:rPr>
                  <a:t>) is required</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Results at lower </a:t>
                </a:r>
                <a:r>
                  <a:rPr lang="en-US" sz="2000" dirty="0" err="1">
                    <a:latin typeface="Times New Roman" panose="02020603050405020304" pitchFamily="18" charset="0"/>
                    <a:cs typeface="Times New Roman" panose="02020603050405020304" pitchFamily="18" charset="0"/>
                  </a:rPr>
                  <a:t>cpws</a:t>
                </a:r>
                <a:r>
                  <a:rPr lang="en-US" sz="2000" dirty="0">
                    <a:latin typeface="Times New Roman" panose="02020603050405020304" pitchFamily="18" charset="0"/>
                    <a:cs typeface="Times New Roman" panose="02020603050405020304" pitchFamily="18" charset="0"/>
                  </a:rPr>
                  <a:t> show signs of numerical heating </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mc:Choice>
        <mc:Fallback>
          <p:sp>
            <p:nvSpPr>
              <p:cNvPr id="27" name="Content Placeholder 26">
                <a:extLst>
                  <a:ext uri="{FF2B5EF4-FFF2-40B4-BE49-F238E27FC236}">
                    <a16:creationId xmlns:a16="http://schemas.microsoft.com/office/drawing/2014/main" id="{86E43A3C-B6D1-3057-DE10-9DCDF8AD3BBE}"/>
                  </a:ext>
                </a:extLst>
              </p:cNvPr>
              <p:cNvSpPr>
                <a:spLocks noGrp="1" noRot="1" noChangeAspect="1" noMove="1" noResize="1" noEditPoints="1" noAdjustHandles="1" noChangeArrowheads="1" noChangeShapeType="1" noTextEdit="1"/>
              </p:cNvSpPr>
              <p:nvPr>
                <p:ph idx="1"/>
              </p:nvPr>
            </p:nvSpPr>
            <p:spPr>
              <a:xfrm>
                <a:off x="876693" y="2053883"/>
                <a:ext cx="4212103" cy="3447832"/>
              </a:xfrm>
              <a:blipFill>
                <a:blip r:embed="rId3"/>
                <a:stretch>
                  <a:fillRect l="-904" t="-1832" r="-2108"/>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55E045A9-4834-1DBC-32F1-AE86B8088DBE}"/>
              </a:ext>
            </a:extLst>
          </p:cNvPr>
          <p:cNvPicPr>
            <a:picLocks noChangeAspect="1"/>
          </p:cNvPicPr>
          <p:nvPr/>
        </p:nvPicPr>
        <p:blipFill>
          <a:blip r:embed="rId4"/>
          <a:srcRect r="8316"/>
          <a:stretch>
            <a:fillRect/>
          </a:stretch>
        </p:blipFill>
        <p:spPr>
          <a:xfrm>
            <a:off x="5266775" y="1649904"/>
            <a:ext cx="6474651" cy="4217564"/>
          </a:xfrm>
          <a:prstGeom prst="rect">
            <a:avLst/>
          </a:prstGeom>
        </p:spPr>
      </p:pic>
      <p:sp>
        <p:nvSpPr>
          <p:cNvPr id="6" name="TextBox 5">
            <a:extLst>
              <a:ext uri="{FF2B5EF4-FFF2-40B4-BE49-F238E27FC236}">
                <a16:creationId xmlns:a16="http://schemas.microsoft.com/office/drawing/2014/main" id="{78645A35-F187-D2FC-2017-BFFDE6DE429E}"/>
              </a:ext>
            </a:extLst>
          </p:cNvPr>
          <p:cNvSpPr txBox="1"/>
          <p:nvPr/>
        </p:nvSpPr>
        <p:spPr>
          <a:xfrm>
            <a:off x="6104767" y="1477108"/>
            <a:ext cx="5373858" cy="576775"/>
          </a:xfrm>
          <a:prstGeom prst="rect">
            <a:avLst/>
          </a:prstGeom>
          <a:solidFill>
            <a:schemeClr val="bg1"/>
          </a:solidFill>
        </p:spPr>
        <p:txBody>
          <a:bodyPr wrap="square" rtlCol="0">
            <a:spAutoFit/>
          </a:bodyPr>
          <a:lstStyle/>
          <a:p>
            <a:endParaRPr lang="en-US" dirty="0"/>
          </a:p>
        </p:txBody>
      </p:sp>
      <p:sp>
        <p:nvSpPr>
          <p:cNvPr id="7" name="object 3">
            <a:extLst>
              <a:ext uri="{FF2B5EF4-FFF2-40B4-BE49-F238E27FC236}">
                <a16:creationId xmlns:a16="http://schemas.microsoft.com/office/drawing/2014/main" id="{561CA44D-15DD-4A2D-4AB4-3112A9D6DA91}"/>
              </a:ext>
            </a:extLst>
          </p:cNvPr>
          <p:cNvSpPr/>
          <p:nvPr/>
        </p:nvSpPr>
        <p:spPr>
          <a:xfrm>
            <a:off x="838199" y="2053883"/>
            <a:ext cx="4212103" cy="3017989"/>
          </a:xfrm>
          <a:custGeom>
            <a:avLst/>
            <a:gdLst/>
            <a:ahLst/>
            <a:cxnLst/>
            <a:rect l="l" t="t" r="r" b="b"/>
            <a:pathLst>
              <a:path w="10515600" h="4351655">
                <a:moveTo>
                  <a:pt x="0" y="0"/>
                </a:moveTo>
                <a:lnTo>
                  <a:pt x="10515600" y="0"/>
                </a:lnTo>
                <a:lnTo>
                  <a:pt x="10515600" y="4351338"/>
                </a:lnTo>
                <a:lnTo>
                  <a:pt x="0" y="4351338"/>
                </a:lnTo>
                <a:lnTo>
                  <a:pt x="0" y="0"/>
                </a:lnTo>
                <a:close/>
              </a:path>
            </a:pathLst>
          </a:custGeom>
          <a:ln w="9525">
            <a:solidFill>
              <a:srgbClr val="4472C4"/>
            </a:solidFill>
          </a:ln>
        </p:spPr>
        <p:txBody>
          <a:bodyPr wrap="square" lIns="0" tIns="0" rIns="0" bIns="0" rtlCol="0"/>
          <a:lstStyle/>
          <a:p>
            <a:endParaRPr/>
          </a:p>
        </p:txBody>
      </p:sp>
    </p:spTree>
    <p:extLst>
      <p:ext uri="{BB962C8B-B14F-4D97-AF65-F5344CB8AC3E}">
        <p14:creationId xmlns:p14="http://schemas.microsoft.com/office/powerpoint/2010/main" val="22485521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94702D-6B35-7D67-7732-64744E179B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79F65B-17AC-8135-1663-FC808F212ACE}"/>
              </a:ext>
            </a:extLst>
          </p:cNvPr>
          <p:cNvSpPr>
            <a:spLocks noGrp="1"/>
          </p:cNvSpPr>
          <p:nvPr>
            <p:ph type="title"/>
          </p:nvPr>
        </p:nvSpPr>
        <p:spPr>
          <a:xfrm>
            <a:off x="838199" y="605262"/>
            <a:ext cx="4595639" cy="542862"/>
          </a:xfrm>
        </p:spPr>
        <p:txBody>
          <a:bodyPr vert="horz" lIns="91440" tIns="45720" rIns="91440" bIns="45720" rtlCol="0" anchor="b">
            <a:normAutofit/>
          </a:bodyPr>
          <a:lstStyle/>
          <a:p>
            <a:r>
              <a:rPr lang="en-US" sz="3200" dirty="0">
                <a:latin typeface="Times New Roman" panose="02020603050405020304" pitchFamily="18" charset="0"/>
                <a:cs typeface="Times New Roman" panose="02020603050405020304" pitchFamily="18" charset="0"/>
              </a:rPr>
              <a:t>Heating convergence tests</a:t>
            </a:r>
            <a:endParaRPr lang="en-US" sz="3200" kern="1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7" name="Content Placeholder 26">
                <a:extLst>
                  <a:ext uri="{FF2B5EF4-FFF2-40B4-BE49-F238E27FC236}">
                    <a16:creationId xmlns:a16="http://schemas.microsoft.com/office/drawing/2014/main" id="{8D7D7764-6849-90E2-C546-45E3830D88CA}"/>
                  </a:ext>
                </a:extLst>
              </p:cNvPr>
              <p:cNvSpPr>
                <a:spLocks noGrp="1"/>
              </p:cNvSpPr>
              <p:nvPr>
                <p:ph idx="1"/>
              </p:nvPr>
            </p:nvSpPr>
            <p:spPr>
              <a:xfrm>
                <a:off x="876693" y="2115307"/>
                <a:ext cx="4349934" cy="3447832"/>
              </a:xfrm>
            </p:spPr>
            <p:txBody>
              <a:bodyPr anchor="t">
                <a:normAutofit/>
              </a:bodyPr>
              <a:lstStyle/>
              <a:p>
                <a:r>
                  <a:rPr lang="en-GB" sz="2000" dirty="0">
                    <a:latin typeface="Times New Roman" panose="02020603050405020304" pitchFamily="18" charset="0"/>
                    <a:cs typeface="Times New Roman" panose="02020603050405020304" pitchFamily="18" charset="0"/>
                  </a:rPr>
                  <a:t>Simulation speed increased using lower resolution, with a lower cluster density (</a:t>
                </a:r>
                <a:r>
                  <a:rPr lang="en-US" sz="2000" dirty="0">
                    <a:latin typeface="Times New Roman" panose="02020603050405020304" pitchFamily="18" charset="0"/>
                    <a:cs typeface="Times New Roman" panose="02020603050405020304" pitchFamily="18" charset="0"/>
                  </a:rPr>
                  <a:t>91 </a:t>
                </a:r>
                <a14:m>
                  <m:oMath xmlns:m="http://schemas.openxmlformats.org/officeDocument/2006/math">
                    <m:sSub>
                      <m:sSubPr>
                        <m:ctrlPr>
                          <a:rPr lang="en-US" sz="2000" i="1" smtClean="0">
                            <a:latin typeface="Cambria Math" panose="02040503050406030204" pitchFamily="18" charset="0"/>
                            <a:cs typeface="Times New Roman" panose="02020603050405020304" pitchFamily="18" charset="0"/>
                          </a:rPr>
                        </m:ctrlPr>
                      </m:sSubPr>
                      <m:e>
                        <m:r>
                          <a:rPr lang="en-GB" sz="2000" i="1">
                            <a:latin typeface="Cambria Math" panose="02040503050406030204" pitchFamily="18" charset="0"/>
                            <a:cs typeface="Times New Roman" panose="02020603050405020304" pitchFamily="18" charset="0"/>
                          </a:rPr>
                          <m:t>𝑛</m:t>
                        </m:r>
                      </m:e>
                      <m:sub>
                        <m:r>
                          <a:rPr lang="en-GB" sz="2000" i="1">
                            <a:latin typeface="Cambria Math" panose="02040503050406030204" pitchFamily="18" charset="0"/>
                            <a:cs typeface="Times New Roman" panose="02020603050405020304" pitchFamily="18" charset="0"/>
                          </a:rPr>
                          <m:t>𝑐</m:t>
                        </m:r>
                      </m:sub>
                    </m:sSub>
                  </m:oMath>
                </a14:m>
                <a:r>
                  <a:rPr lang="en-GB" sz="2000" dirty="0">
                    <a:latin typeface="Times New Roman" panose="02020603050405020304" pitchFamily="18" charset="0"/>
                    <a:cs typeface="Times New Roman" panose="02020603050405020304" pitchFamily="18" charset="0"/>
                  </a:rPr>
                  <a:t>) and radius (10 nm) </a:t>
                </a:r>
                <a:r>
                  <a:rPr lang="en-US" sz="2000" b="1" dirty="0">
                    <a:latin typeface="Times New Roman" panose="02020603050405020304" pitchFamily="18" charset="0"/>
                    <a:cs typeface="Times New Roman" panose="02020603050405020304" pitchFamily="18" charset="0"/>
                  </a:rPr>
                  <a:t>[3]</a:t>
                </a:r>
                <a:endParaRPr lang="en-GB" sz="2000" dirty="0">
                  <a:latin typeface="Times New Roman" panose="02020603050405020304" pitchFamily="18" charset="0"/>
                  <a:cs typeface="Times New Roman" panose="02020603050405020304" pitchFamily="18" charset="0"/>
                </a:endParaRPr>
              </a:p>
              <a:p>
                <a:endParaRPr lang="en-GB" sz="2000" dirty="0">
                  <a:latin typeface="Times New Roman" panose="02020603050405020304" pitchFamily="18" charset="0"/>
                  <a:cs typeface="Times New Roman" panose="02020603050405020304" pitchFamily="18" charset="0"/>
                </a:endParaRPr>
              </a:p>
              <a:p>
                <a:r>
                  <a:rPr lang="en-GB" sz="2000" dirty="0">
                    <a:latin typeface="Times New Roman" panose="02020603050405020304" pitchFamily="18" charset="0"/>
                    <a:cs typeface="Times New Roman" panose="02020603050405020304" pitchFamily="18" charset="0"/>
                  </a:rPr>
                  <a:t>Debye length increased, to ~ 0.9 nm, at a temperature of ~ 74 eV</a:t>
                </a: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At 768 </a:t>
                </a:r>
                <a:r>
                  <a:rPr lang="en-US" sz="2000" dirty="0" err="1">
                    <a:latin typeface="Times New Roman" panose="02020603050405020304" pitchFamily="18" charset="0"/>
                    <a:cs typeface="Times New Roman" panose="02020603050405020304" pitchFamily="18" charset="0"/>
                  </a:rPr>
                  <a:t>cpw</a:t>
                </a:r>
                <a:r>
                  <a:rPr lang="en-US" sz="2000" dirty="0">
                    <a:latin typeface="Times New Roman" panose="02020603050405020304" pitchFamily="18" charset="0"/>
                    <a:cs typeface="Times New Roman" panose="02020603050405020304" pitchFamily="18" charset="0"/>
                  </a:rPr>
                  <a:t>, the kinetic energy diagnostic no longer shows signs of numerical heating</a:t>
                </a:r>
              </a:p>
              <a:p>
                <a:endParaRPr lang="en-US" sz="2000" dirty="0">
                  <a:latin typeface="Times New Roman" panose="02020603050405020304" pitchFamily="18" charset="0"/>
                  <a:cs typeface="Times New Roman" panose="02020603050405020304" pitchFamily="18" charset="0"/>
                </a:endParaRPr>
              </a:p>
            </p:txBody>
          </p:sp>
        </mc:Choice>
        <mc:Fallback>
          <p:sp>
            <p:nvSpPr>
              <p:cNvPr id="27" name="Content Placeholder 26">
                <a:extLst>
                  <a:ext uri="{FF2B5EF4-FFF2-40B4-BE49-F238E27FC236}">
                    <a16:creationId xmlns:a16="http://schemas.microsoft.com/office/drawing/2014/main" id="{8D7D7764-6849-90E2-C546-45E3830D88CA}"/>
                  </a:ext>
                </a:extLst>
              </p:cNvPr>
              <p:cNvSpPr>
                <a:spLocks noGrp="1" noRot="1" noChangeAspect="1" noMove="1" noResize="1" noEditPoints="1" noAdjustHandles="1" noChangeArrowheads="1" noChangeShapeType="1" noTextEdit="1"/>
              </p:cNvSpPr>
              <p:nvPr>
                <p:ph idx="1"/>
              </p:nvPr>
            </p:nvSpPr>
            <p:spPr>
              <a:xfrm>
                <a:off x="876693" y="2115307"/>
                <a:ext cx="4349934" cy="3447832"/>
              </a:xfrm>
              <a:blipFill>
                <a:blip r:embed="rId3"/>
                <a:stretch>
                  <a:fillRect l="-1458" t="-1832" r="-292"/>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97102AFE-09B1-0712-3E4F-902F28497B10}"/>
              </a:ext>
            </a:extLst>
          </p:cNvPr>
          <p:cNvSpPr txBox="1"/>
          <p:nvPr/>
        </p:nvSpPr>
        <p:spPr>
          <a:xfrm>
            <a:off x="5866228" y="1486073"/>
            <a:ext cx="5373858" cy="576775"/>
          </a:xfrm>
          <a:prstGeom prst="rect">
            <a:avLst/>
          </a:prstGeom>
          <a:solidFill>
            <a:schemeClr val="bg1"/>
          </a:solidFill>
        </p:spPr>
        <p:txBody>
          <a:bodyPr wrap="square" rtlCol="0">
            <a:spAutoFit/>
          </a:bodyPr>
          <a:lstStyle/>
          <a:p>
            <a:endParaRPr lang="en-US" dirty="0"/>
          </a:p>
        </p:txBody>
      </p:sp>
      <p:pic>
        <p:nvPicPr>
          <p:cNvPr id="3" name="Picture 2">
            <a:extLst>
              <a:ext uri="{FF2B5EF4-FFF2-40B4-BE49-F238E27FC236}">
                <a16:creationId xmlns:a16="http://schemas.microsoft.com/office/drawing/2014/main" id="{EC8B6074-F2C0-6134-11CA-443058484DBD}"/>
              </a:ext>
            </a:extLst>
          </p:cNvPr>
          <p:cNvPicPr>
            <a:picLocks noChangeAspect="1"/>
          </p:cNvPicPr>
          <p:nvPr/>
        </p:nvPicPr>
        <p:blipFill>
          <a:blip r:embed="rId4"/>
          <a:stretch>
            <a:fillRect/>
          </a:stretch>
        </p:blipFill>
        <p:spPr>
          <a:xfrm>
            <a:off x="5472331" y="1770949"/>
            <a:ext cx="6485207" cy="4044966"/>
          </a:xfrm>
          <a:prstGeom prst="rect">
            <a:avLst/>
          </a:prstGeom>
        </p:spPr>
      </p:pic>
      <p:sp>
        <p:nvSpPr>
          <p:cNvPr id="5" name="TextBox 4">
            <a:extLst>
              <a:ext uri="{FF2B5EF4-FFF2-40B4-BE49-F238E27FC236}">
                <a16:creationId xmlns:a16="http://schemas.microsoft.com/office/drawing/2014/main" id="{FCC6AB07-B27B-23CE-A4FC-127FD6986744}"/>
              </a:ext>
            </a:extLst>
          </p:cNvPr>
          <p:cNvSpPr txBox="1"/>
          <p:nvPr/>
        </p:nvSpPr>
        <p:spPr>
          <a:xfrm>
            <a:off x="6457899" y="1538532"/>
            <a:ext cx="5373858" cy="576775"/>
          </a:xfrm>
          <a:prstGeom prst="rect">
            <a:avLst/>
          </a:prstGeom>
          <a:solidFill>
            <a:schemeClr val="bg1"/>
          </a:solidFill>
        </p:spPr>
        <p:txBody>
          <a:bodyPr wrap="square" rtlCol="0">
            <a:spAutoFit/>
          </a:bodyPr>
          <a:lstStyle/>
          <a:p>
            <a:endParaRPr lang="en-US" dirty="0"/>
          </a:p>
        </p:txBody>
      </p:sp>
      <p:sp>
        <p:nvSpPr>
          <p:cNvPr id="7" name="object 3">
            <a:extLst>
              <a:ext uri="{FF2B5EF4-FFF2-40B4-BE49-F238E27FC236}">
                <a16:creationId xmlns:a16="http://schemas.microsoft.com/office/drawing/2014/main" id="{BF0F5E77-0600-0185-8E40-58C6C9488DE1}"/>
              </a:ext>
            </a:extLst>
          </p:cNvPr>
          <p:cNvSpPr/>
          <p:nvPr/>
        </p:nvSpPr>
        <p:spPr>
          <a:xfrm>
            <a:off x="838199" y="2040834"/>
            <a:ext cx="4508351" cy="3447832"/>
          </a:xfrm>
          <a:custGeom>
            <a:avLst/>
            <a:gdLst/>
            <a:ahLst/>
            <a:cxnLst/>
            <a:rect l="l" t="t" r="r" b="b"/>
            <a:pathLst>
              <a:path w="10515600" h="4351655">
                <a:moveTo>
                  <a:pt x="0" y="0"/>
                </a:moveTo>
                <a:lnTo>
                  <a:pt x="10515600" y="0"/>
                </a:lnTo>
                <a:lnTo>
                  <a:pt x="10515600" y="4351338"/>
                </a:lnTo>
                <a:lnTo>
                  <a:pt x="0" y="4351338"/>
                </a:lnTo>
                <a:lnTo>
                  <a:pt x="0" y="0"/>
                </a:lnTo>
                <a:close/>
              </a:path>
            </a:pathLst>
          </a:custGeom>
          <a:ln w="9525">
            <a:solidFill>
              <a:srgbClr val="4472C4"/>
            </a:solidFill>
          </a:ln>
        </p:spPr>
        <p:txBody>
          <a:bodyPr wrap="square" lIns="0" tIns="0" rIns="0" bIns="0" rtlCol="0"/>
          <a:lstStyle/>
          <a:p>
            <a:endParaRPr/>
          </a:p>
        </p:txBody>
      </p:sp>
    </p:spTree>
    <p:extLst>
      <p:ext uri="{BB962C8B-B14F-4D97-AF65-F5344CB8AC3E}">
        <p14:creationId xmlns:p14="http://schemas.microsoft.com/office/powerpoint/2010/main" val="22212909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A70534-F475-4A91-5483-8029232990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CB3355-C609-7D24-4485-633FEF8DD598}"/>
              </a:ext>
            </a:extLst>
          </p:cNvPr>
          <p:cNvSpPr>
            <a:spLocks noGrp="1"/>
          </p:cNvSpPr>
          <p:nvPr>
            <p:ph type="title"/>
          </p:nvPr>
        </p:nvSpPr>
        <p:spPr>
          <a:xfrm>
            <a:off x="876693" y="291225"/>
            <a:ext cx="4004796" cy="1616203"/>
          </a:xfrm>
        </p:spPr>
        <p:txBody>
          <a:bodyPr vert="horz" lIns="91440" tIns="45720" rIns="91440" bIns="45720" rtlCol="0" anchor="b">
            <a:normAutofit/>
          </a:bodyPr>
          <a:lstStyle/>
          <a:p>
            <a:r>
              <a:rPr lang="en-US" sz="3200" dirty="0">
                <a:latin typeface="Times New Roman" panose="02020603050405020304" pitchFamily="18" charset="0"/>
                <a:cs typeface="Times New Roman" panose="02020603050405020304" pitchFamily="18" charset="0"/>
              </a:rPr>
              <a:t>CH4</a:t>
            </a:r>
            <a:r>
              <a:rPr lang="en-US" sz="3200" kern="1200"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cluster </a:t>
            </a:r>
            <a:r>
              <a:rPr lang="en-US" sz="3200" kern="1200" dirty="0">
                <a:latin typeface="Times New Roman" panose="02020603050405020304" pitchFamily="18" charset="0"/>
                <a:cs typeface="Times New Roman" panose="02020603050405020304" pitchFamily="18" charset="0"/>
              </a:rPr>
              <a:t>expansion under pre-pulse</a:t>
            </a:r>
          </a:p>
        </p:txBody>
      </p:sp>
      <p:pic>
        <p:nvPicPr>
          <p:cNvPr id="17" name="Picture 16">
            <a:extLst>
              <a:ext uri="{FF2B5EF4-FFF2-40B4-BE49-F238E27FC236}">
                <a16:creationId xmlns:a16="http://schemas.microsoft.com/office/drawing/2014/main" id="{4A868A26-8A3A-09AE-7CCB-6F24E7F08C52}"/>
              </a:ext>
            </a:extLst>
          </p:cNvPr>
          <p:cNvPicPr>
            <a:picLocks noChangeAspect="1"/>
          </p:cNvPicPr>
          <p:nvPr/>
        </p:nvPicPr>
        <p:blipFill>
          <a:blip r:embed="rId3"/>
          <a:stretch>
            <a:fillRect/>
          </a:stretch>
        </p:blipFill>
        <p:spPr>
          <a:xfrm>
            <a:off x="4991584" y="406400"/>
            <a:ext cx="7010400" cy="6045200"/>
          </a:xfrm>
          <a:prstGeom prst="rect">
            <a:avLst/>
          </a:prstGeom>
        </p:spPr>
      </p:pic>
      <mc:AlternateContent xmlns:mc="http://schemas.openxmlformats.org/markup-compatibility/2006">
        <mc:Choice xmlns:a14="http://schemas.microsoft.com/office/drawing/2010/main" Requires="a14">
          <p:sp>
            <p:nvSpPr>
              <p:cNvPr id="21" name="Content Placeholder 26">
                <a:extLst>
                  <a:ext uri="{FF2B5EF4-FFF2-40B4-BE49-F238E27FC236}">
                    <a16:creationId xmlns:a16="http://schemas.microsoft.com/office/drawing/2014/main" id="{9A5BB6C7-6F88-DE0D-133B-5F16EA2BC854}"/>
                  </a:ext>
                </a:extLst>
              </p:cNvPr>
              <p:cNvSpPr txBox="1">
                <a:spLocks/>
              </p:cNvSpPr>
              <p:nvPr/>
            </p:nvSpPr>
            <p:spPr>
              <a:xfrm>
                <a:off x="876693" y="2533476"/>
                <a:ext cx="4130225" cy="344783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Simulation of a 10 nm radius cluster initialised at 91</a:t>
                </a:r>
                <a14:m>
                  <m:oMath xmlns:m="http://schemas.openxmlformats.org/officeDocument/2006/math">
                    <m:r>
                      <a:rPr lang="en-GB" sz="2000" i="1">
                        <a:latin typeface="Cambria Math" panose="02040503050406030204" pitchFamily="18" charset="0"/>
                        <a:cs typeface="Times New Roman" panose="02020603050405020304" pitchFamily="18" charset="0"/>
                      </a:rPr>
                      <m:t> </m:t>
                    </m:r>
                    <m:sSub>
                      <m:sSubPr>
                        <m:ctrlPr>
                          <a:rPr lang="en-US" sz="2000" i="1">
                            <a:latin typeface="Cambria Math" panose="02040503050406030204" pitchFamily="18" charset="0"/>
                            <a:cs typeface="Times New Roman" panose="02020603050405020304" pitchFamily="18" charset="0"/>
                          </a:rPr>
                        </m:ctrlPr>
                      </m:sSubPr>
                      <m:e>
                        <m:r>
                          <a:rPr lang="en-GB" sz="2000" i="1">
                            <a:latin typeface="Cambria Math" panose="02040503050406030204" pitchFamily="18" charset="0"/>
                            <a:cs typeface="Times New Roman" panose="02020603050405020304" pitchFamily="18" charset="0"/>
                          </a:rPr>
                          <m:t>𝑛</m:t>
                        </m:r>
                      </m:e>
                      <m:sub>
                        <m:r>
                          <a:rPr lang="en-GB" sz="2000" i="1">
                            <a:latin typeface="Cambria Math" panose="02040503050406030204" pitchFamily="18" charset="0"/>
                            <a:cs typeface="Times New Roman" panose="02020603050405020304" pitchFamily="18" charset="0"/>
                          </a:rPr>
                          <m:t>𝑐</m:t>
                        </m:r>
                      </m:sub>
                    </m:sSub>
                  </m:oMath>
                </a14:m>
                <a:r>
                  <a:rPr lang="en-US" sz="2000" dirty="0">
                    <a:latin typeface="Times New Roman" panose="02020603050405020304" pitchFamily="18" charset="0"/>
                    <a:cs typeface="Times New Roman" panose="02020603050405020304" pitchFamily="18" charset="0"/>
                  </a:rPr>
                  <a:t>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Signs of declustering 7 </a:t>
                </a:r>
                <a:r>
                  <a:rPr lang="en-US" sz="2000" dirty="0" err="1">
                    <a:latin typeface="Times New Roman" panose="02020603050405020304" pitchFamily="18" charset="0"/>
                    <a:cs typeface="Times New Roman" panose="02020603050405020304" pitchFamily="18" charset="0"/>
                  </a:rPr>
                  <a:t>ps</a:t>
                </a:r>
                <a:r>
                  <a:rPr lang="en-US" sz="2000" dirty="0">
                    <a:latin typeface="Times New Roman" panose="02020603050405020304" pitchFamily="18" charset="0"/>
                    <a:cs typeface="Times New Roman" panose="02020603050405020304" pitchFamily="18" charset="0"/>
                  </a:rPr>
                  <a:t> before the main pulse arrives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Suggests a density decrease to a greater extent than expected</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mc:Choice>
        <mc:Fallback>
          <p:sp>
            <p:nvSpPr>
              <p:cNvPr id="21" name="Content Placeholder 26">
                <a:extLst>
                  <a:ext uri="{FF2B5EF4-FFF2-40B4-BE49-F238E27FC236}">
                    <a16:creationId xmlns:a16="http://schemas.microsoft.com/office/drawing/2014/main" id="{9A5BB6C7-6F88-DE0D-133B-5F16EA2BC854}"/>
                  </a:ext>
                </a:extLst>
              </p:cNvPr>
              <p:cNvSpPr txBox="1">
                <a:spLocks noRot="1" noChangeAspect="1" noMove="1" noResize="1" noEditPoints="1" noAdjustHandles="1" noChangeArrowheads="1" noChangeShapeType="1" noTextEdit="1"/>
              </p:cNvSpPr>
              <p:nvPr/>
            </p:nvSpPr>
            <p:spPr>
              <a:xfrm>
                <a:off x="876693" y="2533476"/>
                <a:ext cx="4130225" cy="3447832"/>
              </a:xfrm>
              <a:prstGeom prst="rect">
                <a:avLst/>
              </a:prstGeom>
              <a:blipFill>
                <a:blip r:embed="rId4"/>
                <a:stretch>
                  <a:fillRect l="-1534" t="-1838" r="-2761"/>
                </a:stretch>
              </a:blipFill>
            </p:spPr>
            <p:txBody>
              <a:bodyPr/>
              <a:lstStyle/>
              <a:p>
                <a:r>
                  <a:rPr lang="en-US">
                    <a:noFill/>
                  </a:rPr>
                  <a:t> </a:t>
                </a:r>
              </a:p>
            </p:txBody>
          </p:sp>
        </mc:Fallback>
      </mc:AlternateContent>
      <p:sp>
        <p:nvSpPr>
          <p:cNvPr id="22" name="object 3">
            <a:extLst>
              <a:ext uri="{FF2B5EF4-FFF2-40B4-BE49-F238E27FC236}">
                <a16:creationId xmlns:a16="http://schemas.microsoft.com/office/drawing/2014/main" id="{703A1DC8-7696-40FB-84C3-CEF31B4BC716}"/>
              </a:ext>
            </a:extLst>
          </p:cNvPr>
          <p:cNvSpPr/>
          <p:nvPr/>
        </p:nvSpPr>
        <p:spPr>
          <a:xfrm>
            <a:off x="794815" y="2533477"/>
            <a:ext cx="4212103" cy="2833654"/>
          </a:xfrm>
          <a:custGeom>
            <a:avLst/>
            <a:gdLst/>
            <a:ahLst/>
            <a:cxnLst/>
            <a:rect l="l" t="t" r="r" b="b"/>
            <a:pathLst>
              <a:path w="10515600" h="4351655">
                <a:moveTo>
                  <a:pt x="0" y="0"/>
                </a:moveTo>
                <a:lnTo>
                  <a:pt x="10515600" y="0"/>
                </a:lnTo>
                <a:lnTo>
                  <a:pt x="10515600" y="4351338"/>
                </a:lnTo>
                <a:lnTo>
                  <a:pt x="0" y="4351338"/>
                </a:lnTo>
                <a:lnTo>
                  <a:pt x="0" y="0"/>
                </a:lnTo>
                <a:close/>
              </a:path>
            </a:pathLst>
          </a:custGeom>
          <a:ln w="9525">
            <a:solidFill>
              <a:srgbClr val="4472C4"/>
            </a:solidFill>
          </a:ln>
        </p:spPr>
        <p:txBody>
          <a:bodyPr wrap="square" lIns="0" tIns="0" rIns="0" bIns="0" rtlCol="0"/>
          <a:lstStyle/>
          <a:p>
            <a:endParaRPr/>
          </a:p>
        </p:txBody>
      </p:sp>
    </p:spTree>
    <p:extLst>
      <p:ext uri="{BB962C8B-B14F-4D97-AF65-F5344CB8AC3E}">
        <p14:creationId xmlns:p14="http://schemas.microsoft.com/office/powerpoint/2010/main" val="42168875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BF7F04E-0035-77F2-C45E-F791859EAA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B01D78-8FEA-A28C-A4A8-AE4353F4A06C}"/>
              </a:ext>
            </a:extLst>
          </p:cNvPr>
          <p:cNvSpPr>
            <a:spLocks noGrp="1"/>
          </p:cNvSpPr>
          <p:nvPr>
            <p:ph type="title"/>
          </p:nvPr>
        </p:nvSpPr>
        <p:spPr>
          <a:xfrm>
            <a:off x="876693" y="291225"/>
            <a:ext cx="4004796" cy="1616203"/>
          </a:xfrm>
        </p:spPr>
        <p:txBody>
          <a:bodyPr vert="horz" lIns="91440" tIns="45720" rIns="91440" bIns="45720" rtlCol="0" anchor="b">
            <a:normAutofit/>
          </a:bodyPr>
          <a:lstStyle/>
          <a:p>
            <a:r>
              <a:rPr lang="en-US" sz="3200" dirty="0">
                <a:latin typeface="Times New Roman" panose="02020603050405020304" pitchFamily="18" charset="0"/>
                <a:cs typeface="Times New Roman" panose="02020603050405020304" pitchFamily="18" charset="0"/>
              </a:rPr>
              <a:t>CH4</a:t>
            </a:r>
            <a:r>
              <a:rPr lang="en-US" sz="3200" kern="1200"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cluster </a:t>
            </a:r>
            <a:r>
              <a:rPr lang="en-US" sz="3200" kern="1200" dirty="0">
                <a:latin typeface="Times New Roman" panose="02020603050405020304" pitchFamily="18" charset="0"/>
                <a:cs typeface="Times New Roman" panose="02020603050405020304" pitchFamily="18" charset="0"/>
              </a:rPr>
              <a:t>expansion under pre-pulse</a:t>
            </a:r>
          </a:p>
        </p:txBody>
      </p:sp>
      <p:pic>
        <p:nvPicPr>
          <p:cNvPr id="14" name="Content Placeholder 13">
            <a:extLst>
              <a:ext uri="{FF2B5EF4-FFF2-40B4-BE49-F238E27FC236}">
                <a16:creationId xmlns:a16="http://schemas.microsoft.com/office/drawing/2014/main" id="{8B4EB60A-E5C1-A5F7-2D1C-E9E08B71C00A}"/>
              </a:ext>
            </a:extLst>
          </p:cNvPr>
          <p:cNvPicPr>
            <a:picLocks noChangeAspect="1"/>
          </p:cNvPicPr>
          <p:nvPr/>
        </p:nvPicPr>
        <p:blipFill>
          <a:blip r:embed="rId3"/>
          <a:stretch>
            <a:fillRect/>
          </a:stretch>
        </p:blipFill>
        <p:spPr>
          <a:xfrm>
            <a:off x="5286988" y="713255"/>
            <a:ext cx="6797160" cy="5760596"/>
          </a:xfrm>
          <a:prstGeom prst="rect">
            <a:avLst/>
          </a:prstGeom>
        </p:spPr>
      </p:pic>
      <p:pic>
        <p:nvPicPr>
          <p:cNvPr id="4" name="Picture 3">
            <a:extLst>
              <a:ext uri="{FF2B5EF4-FFF2-40B4-BE49-F238E27FC236}">
                <a16:creationId xmlns:a16="http://schemas.microsoft.com/office/drawing/2014/main" id="{876F98E6-EDC2-E3DF-05EF-2C090DB1A947}"/>
              </a:ext>
            </a:extLst>
          </p:cNvPr>
          <p:cNvPicPr>
            <a:picLocks noChangeAspect="1"/>
          </p:cNvPicPr>
          <p:nvPr/>
        </p:nvPicPr>
        <p:blipFill>
          <a:blip r:embed="rId4"/>
          <a:stretch>
            <a:fillRect/>
          </a:stretch>
        </p:blipFill>
        <p:spPr>
          <a:xfrm>
            <a:off x="5000756" y="761668"/>
            <a:ext cx="7102461" cy="5805107"/>
          </a:xfrm>
          <a:prstGeom prst="rect">
            <a:avLst/>
          </a:prstGeom>
        </p:spPr>
      </p:pic>
      <mc:AlternateContent xmlns:mc="http://schemas.openxmlformats.org/markup-compatibility/2006">
        <mc:Choice xmlns:a14="http://schemas.microsoft.com/office/drawing/2010/main" Requires="a14">
          <p:sp>
            <p:nvSpPr>
              <p:cNvPr id="8" name="Content Placeholder 26">
                <a:extLst>
                  <a:ext uri="{FF2B5EF4-FFF2-40B4-BE49-F238E27FC236}">
                    <a16:creationId xmlns:a16="http://schemas.microsoft.com/office/drawing/2014/main" id="{4836AC18-820A-274C-E55E-752F18A93A02}"/>
                  </a:ext>
                </a:extLst>
              </p:cNvPr>
              <p:cNvSpPr txBox="1">
                <a:spLocks/>
              </p:cNvSpPr>
              <p:nvPr/>
            </p:nvSpPr>
            <p:spPr>
              <a:xfrm>
                <a:off x="876693" y="2533476"/>
                <a:ext cx="4130225" cy="344783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Simulation of a 10 nm radius cluster initialised at 91</a:t>
                </a:r>
                <a14:m>
                  <m:oMath xmlns:m="http://schemas.openxmlformats.org/officeDocument/2006/math">
                    <m:r>
                      <a:rPr lang="en-GB" sz="2000" i="1">
                        <a:latin typeface="Cambria Math" panose="02040503050406030204" pitchFamily="18" charset="0"/>
                        <a:cs typeface="Times New Roman" panose="02020603050405020304" pitchFamily="18" charset="0"/>
                      </a:rPr>
                      <m:t> </m:t>
                    </m:r>
                    <m:sSub>
                      <m:sSubPr>
                        <m:ctrlPr>
                          <a:rPr lang="en-US" sz="2000" i="1">
                            <a:latin typeface="Cambria Math" panose="02040503050406030204" pitchFamily="18" charset="0"/>
                            <a:cs typeface="Times New Roman" panose="02020603050405020304" pitchFamily="18" charset="0"/>
                          </a:rPr>
                        </m:ctrlPr>
                      </m:sSubPr>
                      <m:e>
                        <m:r>
                          <a:rPr lang="en-GB" sz="2000" i="1">
                            <a:latin typeface="Cambria Math" panose="02040503050406030204" pitchFamily="18" charset="0"/>
                            <a:cs typeface="Times New Roman" panose="02020603050405020304" pitchFamily="18" charset="0"/>
                          </a:rPr>
                          <m:t>𝑛</m:t>
                        </m:r>
                      </m:e>
                      <m:sub>
                        <m:r>
                          <a:rPr lang="en-GB" sz="2000" i="1">
                            <a:latin typeface="Cambria Math" panose="02040503050406030204" pitchFamily="18" charset="0"/>
                            <a:cs typeface="Times New Roman" panose="02020603050405020304" pitchFamily="18" charset="0"/>
                          </a:rPr>
                          <m:t>𝑐</m:t>
                        </m:r>
                      </m:sub>
                    </m:sSub>
                  </m:oMath>
                </a14:m>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Signs of declustering 7 </a:t>
                </a:r>
                <a:r>
                  <a:rPr lang="en-US" sz="2000" dirty="0" err="1">
                    <a:latin typeface="Times New Roman" panose="02020603050405020304" pitchFamily="18" charset="0"/>
                    <a:cs typeface="Times New Roman" panose="02020603050405020304" pitchFamily="18" charset="0"/>
                  </a:rPr>
                  <a:t>ps</a:t>
                </a:r>
                <a:r>
                  <a:rPr lang="en-US" sz="2000" dirty="0">
                    <a:latin typeface="Times New Roman" panose="02020603050405020304" pitchFamily="18" charset="0"/>
                    <a:cs typeface="Times New Roman" panose="02020603050405020304" pitchFamily="18" charset="0"/>
                  </a:rPr>
                  <a:t> before the main pulse arrives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Suggests a density decrease to a greater extent than expected</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mc:Choice>
        <mc:Fallback>
          <p:sp>
            <p:nvSpPr>
              <p:cNvPr id="8" name="Content Placeholder 26">
                <a:extLst>
                  <a:ext uri="{FF2B5EF4-FFF2-40B4-BE49-F238E27FC236}">
                    <a16:creationId xmlns:a16="http://schemas.microsoft.com/office/drawing/2014/main" id="{4836AC18-820A-274C-E55E-752F18A93A02}"/>
                  </a:ext>
                </a:extLst>
              </p:cNvPr>
              <p:cNvSpPr txBox="1">
                <a:spLocks noRot="1" noChangeAspect="1" noMove="1" noResize="1" noEditPoints="1" noAdjustHandles="1" noChangeArrowheads="1" noChangeShapeType="1" noTextEdit="1"/>
              </p:cNvSpPr>
              <p:nvPr/>
            </p:nvSpPr>
            <p:spPr>
              <a:xfrm>
                <a:off x="876693" y="2533476"/>
                <a:ext cx="4130225" cy="3447832"/>
              </a:xfrm>
              <a:prstGeom prst="rect">
                <a:avLst/>
              </a:prstGeom>
              <a:blipFill>
                <a:blip r:embed="rId5"/>
                <a:stretch>
                  <a:fillRect l="-1534" t="-1838" r="-2761"/>
                </a:stretch>
              </a:blipFill>
            </p:spPr>
            <p:txBody>
              <a:bodyPr/>
              <a:lstStyle/>
              <a:p>
                <a:r>
                  <a:rPr lang="en-US">
                    <a:noFill/>
                  </a:rPr>
                  <a:t> </a:t>
                </a:r>
              </a:p>
            </p:txBody>
          </p:sp>
        </mc:Fallback>
      </mc:AlternateContent>
      <p:sp>
        <p:nvSpPr>
          <p:cNvPr id="9" name="object 3">
            <a:extLst>
              <a:ext uri="{FF2B5EF4-FFF2-40B4-BE49-F238E27FC236}">
                <a16:creationId xmlns:a16="http://schemas.microsoft.com/office/drawing/2014/main" id="{390DDDFA-1D47-0718-58E1-3D93CBF082D4}"/>
              </a:ext>
            </a:extLst>
          </p:cNvPr>
          <p:cNvSpPr/>
          <p:nvPr/>
        </p:nvSpPr>
        <p:spPr>
          <a:xfrm>
            <a:off x="794815" y="2533477"/>
            <a:ext cx="4212103" cy="2833654"/>
          </a:xfrm>
          <a:custGeom>
            <a:avLst/>
            <a:gdLst/>
            <a:ahLst/>
            <a:cxnLst/>
            <a:rect l="l" t="t" r="r" b="b"/>
            <a:pathLst>
              <a:path w="10515600" h="4351655">
                <a:moveTo>
                  <a:pt x="0" y="0"/>
                </a:moveTo>
                <a:lnTo>
                  <a:pt x="10515600" y="0"/>
                </a:lnTo>
                <a:lnTo>
                  <a:pt x="10515600" y="4351338"/>
                </a:lnTo>
                <a:lnTo>
                  <a:pt x="0" y="4351338"/>
                </a:lnTo>
                <a:lnTo>
                  <a:pt x="0" y="0"/>
                </a:lnTo>
                <a:close/>
              </a:path>
            </a:pathLst>
          </a:custGeom>
          <a:ln w="9525">
            <a:solidFill>
              <a:srgbClr val="4472C4"/>
            </a:solidFill>
          </a:ln>
        </p:spPr>
        <p:txBody>
          <a:bodyPr wrap="square" lIns="0" tIns="0" rIns="0" bIns="0" rtlCol="0"/>
          <a:lstStyle/>
          <a:p>
            <a:endParaRPr/>
          </a:p>
        </p:txBody>
      </p:sp>
    </p:spTree>
    <p:extLst>
      <p:ext uri="{BB962C8B-B14F-4D97-AF65-F5344CB8AC3E}">
        <p14:creationId xmlns:p14="http://schemas.microsoft.com/office/powerpoint/2010/main" val="35785535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ADC0F-8761-D8CD-2696-27C900F3003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EBAFB3C-EB15-F12D-939C-A01146212179}"/>
              </a:ext>
            </a:extLst>
          </p:cNvPr>
          <p:cNvSpPr txBox="1">
            <a:spLocks noGrp="1"/>
          </p:cNvSpPr>
          <p:nvPr>
            <p:ph type="title"/>
          </p:nvPr>
        </p:nvSpPr>
        <p:spPr>
          <a:xfrm>
            <a:off x="838200" y="682940"/>
            <a:ext cx="10515600" cy="689932"/>
          </a:xfrm>
          <a:prstGeom prst="rect">
            <a:avLst/>
          </a:prstGeom>
        </p:spPr>
        <p:txBody>
          <a:bodyPr vert="horz" wrap="square" lIns="0" tIns="12700" rIns="0" bIns="0" rtlCol="0">
            <a:spAutoFit/>
          </a:bodyPr>
          <a:lstStyle/>
          <a:p>
            <a:pPr marL="12700">
              <a:lnSpc>
                <a:spcPct val="100000"/>
              </a:lnSpc>
              <a:spcBef>
                <a:spcPts val="100"/>
              </a:spcBef>
            </a:pPr>
            <a:r>
              <a:rPr spc="-10" dirty="0">
                <a:latin typeface="Times New Roman" panose="02020603050405020304" pitchFamily="18" charset="0"/>
                <a:cs typeface="Times New Roman" panose="02020603050405020304" pitchFamily="18" charset="0"/>
              </a:rPr>
              <a:t>Outline</a:t>
            </a:r>
          </a:p>
        </p:txBody>
      </p:sp>
      <p:sp>
        <p:nvSpPr>
          <p:cNvPr id="3" name="object 3">
            <a:extLst>
              <a:ext uri="{FF2B5EF4-FFF2-40B4-BE49-F238E27FC236}">
                <a16:creationId xmlns:a16="http://schemas.microsoft.com/office/drawing/2014/main" id="{A25FA842-478E-1E5F-1ABF-B6C06BAA4D1B}"/>
              </a:ext>
            </a:extLst>
          </p:cNvPr>
          <p:cNvSpPr txBox="1"/>
          <p:nvPr/>
        </p:nvSpPr>
        <p:spPr>
          <a:xfrm>
            <a:off x="838200" y="1825625"/>
            <a:ext cx="10515600" cy="2850139"/>
          </a:xfrm>
          <a:prstGeom prst="rect">
            <a:avLst/>
          </a:prstGeom>
          <a:ln w="9525">
            <a:solidFill>
              <a:srgbClr val="4472C4"/>
            </a:solidFill>
          </a:ln>
        </p:spPr>
        <p:txBody>
          <a:bodyPr vert="horz" wrap="square" lIns="0" tIns="79375" rIns="0" bIns="0" rtlCol="0">
            <a:spAutoFit/>
          </a:bodyPr>
          <a:lstStyle/>
          <a:p>
            <a:pPr marL="372110" indent="-228600">
              <a:lnSpc>
                <a:spcPct val="100000"/>
              </a:lnSpc>
              <a:spcBef>
                <a:spcPts val="625"/>
              </a:spcBef>
              <a:buFont typeface="Arial"/>
              <a:buChar char="•"/>
              <a:tabLst>
                <a:tab pos="372110" algn="l"/>
              </a:tabLst>
            </a:pPr>
            <a:r>
              <a:rPr sz="1800" dirty="0">
                <a:solidFill>
                  <a:schemeClr val="bg1">
                    <a:lumMod val="50000"/>
                  </a:schemeClr>
                </a:solidFill>
                <a:latin typeface="Times New Roman" panose="02020603050405020304" pitchFamily="18" charset="0"/>
                <a:cs typeface="Times New Roman" panose="02020603050405020304" pitchFamily="18" charset="0"/>
              </a:rPr>
              <a:t>Introduction</a:t>
            </a:r>
            <a:r>
              <a:rPr lang="en-GB" sz="1800" spc="-20" dirty="0">
                <a:solidFill>
                  <a:schemeClr val="bg1">
                    <a:lumMod val="50000"/>
                  </a:schemeClr>
                </a:solidFill>
                <a:latin typeface="Times New Roman" panose="02020603050405020304" pitchFamily="18" charset="0"/>
                <a:cs typeface="Times New Roman" panose="02020603050405020304" pitchFamily="18" charset="0"/>
              </a:rPr>
              <a:t> </a:t>
            </a:r>
            <a:r>
              <a:rPr lang="en-GB" sz="1800" dirty="0">
                <a:solidFill>
                  <a:schemeClr val="bg1">
                    <a:lumMod val="50000"/>
                  </a:schemeClr>
                </a:solidFill>
                <a:latin typeface="Times New Roman" panose="02020603050405020304" pitchFamily="18" charset="0"/>
                <a:cs typeface="Times New Roman" panose="02020603050405020304" pitchFamily="18" charset="0"/>
              </a:rPr>
              <a:t>and</a:t>
            </a:r>
            <a:r>
              <a:rPr lang="en-GB" sz="1800" spc="-30" dirty="0">
                <a:solidFill>
                  <a:schemeClr val="bg1">
                    <a:lumMod val="50000"/>
                  </a:schemeClr>
                </a:solidFill>
                <a:latin typeface="Times New Roman" panose="02020603050405020304" pitchFamily="18" charset="0"/>
                <a:cs typeface="Times New Roman" panose="02020603050405020304" pitchFamily="18" charset="0"/>
              </a:rPr>
              <a:t> </a:t>
            </a:r>
            <a:r>
              <a:rPr lang="en-GB" sz="1800" spc="-10" dirty="0">
                <a:solidFill>
                  <a:schemeClr val="bg1">
                    <a:lumMod val="50000"/>
                  </a:schemeClr>
                </a:solidFill>
                <a:latin typeface="Times New Roman" panose="02020603050405020304" pitchFamily="18" charset="0"/>
                <a:cs typeface="Times New Roman" panose="02020603050405020304" pitchFamily="18" charset="0"/>
              </a:rPr>
              <a:t>Background</a:t>
            </a:r>
            <a:endParaRPr lang="en-GB" sz="1800" dirty="0">
              <a:solidFill>
                <a:schemeClr val="bg1">
                  <a:lumMod val="50000"/>
                </a:schemeClr>
              </a:solidFill>
              <a:latin typeface="Times New Roman" panose="02020603050405020304" pitchFamily="18" charset="0"/>
              <a:cs typeface="Times New Roman" panose="02020603050405020304" pitchFamily="18" charset="0"/>
            </a:endParaRPr>
          </a:p>
          <a:p>
            <a:pPr marL="829310" lvl="1" indent="-228600">
              <a:lnSpc>
                <a:spcPct val="100000"/>
              </a:lnSpc>
              <a:spcBef>
                <a:spcPts val="45"/>
              </a:spcBef>
              <a:buFont typeface="Arial"/>
              <a:buChar char="•"/>
              <a:tabLst>
                <a:tab pos="829310" algn="l"/>
              </a:tabLst>
            </a:pPr>
            <a:r>
              <a:rPr lang="en-GB" spc="-155" dirty="0">
                <a:solidFill>
                  <a:schemeClr val="bg1">
                    <a:lumMod val="50000"/>
                  </a:schemeClr>
                </a:solidFill>
                <a:latin typeface="Times New Roman" panose="02020603050405020304" pitchFamily="18" charset="0"/>
                <a:cs typeface="Times New Roman" panose="02020603050405020304" pitchFamily="18" charset="0"/>
              </a:rPr>
              <a:t>LWFA</a:t>
            </a:r>
            <a:endParaRPr lang="en-GB" sz="1800" spc="-10" dirty="0">
              <a:solidFill>
                <a:schemeClr val="bg1">
                  <a:lumMod val="50000"/>
                </a:schemeClr>
              </a:solidFill>
              <a:latin typeface="Times New Roman" panose="02020603050405020304" pitchFamily="18" charset="0"/>
              <a:cs typeface="Times New Roman" panose="02020603050405020304" pitchFamily="18" charset="0"/>
            </a:endParaRPr>
          </a:p>
          <a:p>
            <a:pPr marL="829310" lvl="1" indent="-228600">
              <a:lnSpc>
                <a:spcPct val="100000"/>
              </a:lnSpc>
              <a:spcBef>
                <a:spcPts val="45"/>
              </a:spcBef>
              <a:buFont typeface="Arial"/>
              <a:buChar char="•"/>
              <a:tabLst>
                <a:tab pos="829310" algn="l"/>
              </a:tabLst>
            </a:pPr>
            <a:r>
              <a:rPr lang="en-GB" sz="1800" spc="-10" dirty="0">
                <a:solidFill>
                  <a:schemeClr val="bg1">
                    <a:lumMod val="50000"/>
                  </a:schemeClr>
                </a:solidFill>
                <a:latin typeface="Times New Roman" panose="02020603050405020304" pitchFamily="18" charset="0"/>
                <a:cs typeface="Times New Roman" panose="02020603050405020304" pitchFamily="18" charset="0"/>
              </a:rPr>
              <a:t>Cluster-enhanced injection</a:t>
            </a:r>
            <a:endParaRPr lang="en-GB" spc="-10" dirty="0">
              <a:solidFill>
                <a:schemeClr val="bg1">
                  <a:lumMod val="50000"/>
                </a:schemeClr>
              </a:solidFill>
              <a:latin typeface="Times New Roman" panose="02020603050405020304" pitchFamily="18" charset="0"/>
              <a:cs typeface="Times New Roman" panose="02020603050405020304" pitchFamily="18" charset="0"/>
            </a:endParaRPr>
          </a:p>
          <a:p>
            <a:pPr marL="829310" lvl="1" indent="-228600">
              <a:lnSpc>
                <a:spcPct val="100000"/>
              </a:lnSpc>
              <a:spcBef>
                <a:spcPts val="45"/>
              </a:spcBef>
              <a:buFont typeface="Arial"/>
              <a:buChar char="•"/>
              <a:tabLst>
                <a:tab pos="829310" algn="l"/>
              </a:tabLst>
            </a:pPr>
            <a:endParaRPr sz="1800" dirty="0">
              <a:solidFill>
                <a:schemeClr val="bg1">
                  <a:lumMod val="50000"/>
                </a:schemeClr>
              </a:solidFill>
              <a:latin typeface="Times New Roman" panose="02020603050405020304" pitchFamily="18" charset="0"/>
              <a:cs typeface="Times New Roman" panose="02020603050405020304" pitchFamily="18" charset="0"/>
            </a:endParaRPr>
          </a:p>
          <a:p>
            <a:pPr marL="372110" indent="-228600">
              <a:lnSpc>
                <a:spcPct val="100000"/>
              </a:lnSpc>
              <a:buFont typeface="Arial"/>
              <a:buChar char="•"/>
              <a:tabLst>
                <a:tab pos="372110" algn="l"/>
              </a:tabLst>
            </a:pPr>
            <a:r>
              <a:rPr sz="1800" spc="-10" dirty="0">
                <a:solidFill>
                  <a:schemeClr val="bg1">
                    <a:lumMod val="50000"/>
                  </a:schemeClr>
                </a:solidFill>
                <a:latin typeface="Times New Roman" panose="02020603050405020304" pitchFamily="18" charset="0"/>
                <a:cs typeface="Times New Roman" panose="02020603050405020304" pitchFamily="18" charset="0"/>
              </a:rPr>
              <a:t>Studies</a:t>
            </a:r>
            <a:endParaRPr sz="1800" dirty="0">
              <a:solidFill>
                <a:schemeClr val="bg1">
                  <a:lumMod val="50000"/>
                </a:schemeClr>
              </a:solidFill>
              <a:latin typeface="Times New Roman" panose="02020603050405020304" pitchFamily="18" charset="0"/>
              <a:cs typeface="Times New Roman" panose="02020603050405020304" pitchFamily="18" charset="0"/>
            </a:endParaRPr>
          </a:p>
          <a:p>
            <a:pPr marL="829310" lvl="1" indent="-228600">
              <a:lnSpc>
                <a:spcPct val="100000"/>
              </a:lnSpc>
              <a:spcBef>
                <a:spcPts val="45"/>
              </a:spcBef>
              <a:buFont typeface="Arial"/>
              <a:buChar char="•"/>
              <a:tabLst>
                <a:tab pos="829310" algn="l"/>
              </a:tabLst>
            </a:pPr>
            <a:r>
              <a:rPr lang="en-GB" sz="1800" dirty="0">
                <a:solidFill>
                  <a:schemeClr val="bg1">
                    <a:lumMod val="50000"/>
                  </a:schemeClr>
                </a:solidFill>
                <a:latin typeface="Times New Roman" panose="02020603050405020304" pitchFamily="18" charset="0"/>
                <a:cs typeface="Times New Roman" panose="02020603050405020304" pitchFamily="18" charset="0"/>
              </a:rPr>
              <a:t>Aims of the proje</a:t>
            </a:r>
            <a:r>
              <a:rPr lang="en-GB" dirty="0">
                <a:solidFill>
                  <a:schemeClr val="bg1">
                    <a:lumMod val="50000"/>
                  </a:schemeClr>
                </a:solidFill>
                <a:latin typeface="Times New Roman" panose="02020603050405020304" pitchFamily="18" charset="0"/>
                <a:cs typeface="Times New Roman" panose="02020603050405020304" pitchFamily="18" charset="0"/>
              </a:rPr>
              <a:t>ct</a:t>
            </a:r>
          </a:p>
          <a:p>
            <a:pPr marL="829310" lvl="1" indent="-228600">
              <a:spcBef>
                <a:spcPts val="45"/>
              </a:spcBef>
              <a:buFont typeface="Arial"/>
              <a:buChar char="•"/>
              <a:tabLst>
                <a:tab pos="829310" algn="l"/>
              </a:tabLst>
            </a:pPr>
            <a:r>
              <a:rPr lang="en-GB" dirty="0">
                <a:solidFill>
                  <a:schemeClr val="bg1">
                    <a:lumMod val="50000"/>
                  </a:schemeClr>
                </a:solidFill>
                <a:latin typeface="Times New Roman" panose="02020603050405020304" pitchFamily="18" charset="0"/>
                <a:cs typeface="Times New Roman" panose="02020603050405020304" pitchFamily="18" charset="0"/>
              </a:rPr>
              <a:t>Heating mechanisms &amp; convergence tests</a:t>
            </a:r>
            <a:endParaRPr lang="en-GB" sz="1800" dirty="0">
              <a:solidFill>
                <a:schemeClr val="bg1">
                  <a:lumMod val="50000"/>
                </a:schemeClr>
              </a:solidFill>
              <a:latin typeface="Times New Roman" panose="02020603050405020304" pitchFamily="18" charset="0"/>
              <a:cs typeface="Times New Roman" panose="02020603050405020304" pitchFamily="18" charset="0"/>
            </a:endParaRPr>
          </a:p>
          <a:p>
            <a:pPr marL="829310" lvl="1" indent="-228600">
              <a:lnSpc>
                <a:spcPct val="100000"/>
              </a:lnSpc>
              <a:spcBef>
                <a:spcPts val="45"/>
              </a:spcBef>
              <a:buFont typeface="Arial"/>
              <a:buChar char="•"/>
              <a:tabLst>
                <a:tab pos="829310" algn="l"/>
              </a:tabLst>
            </a:pPr>
            <a:r>
              <a:rPr lang="en-GB" dirty="0">
                <a:solidFill>
                  <a:schemeClr val="bg1">
                    <a:lumMod val="50000"/>
                  </a:schemeClr>
                </a:solidFill>
                <a:latin typeface="Times New Roman" panose="02020603050405020304" pitchFamily="18" charset="0"/>
                <a:cs typeface="Times New Roman" panose="02020603050405020304" pitchFamily="18" charset="0"/>
              </a:rPr>
              <a:t>Cluster expansion under the laser pre-pulse</a:t>
            </a:r>
          </a:p>
          <a:p>
            <a:pPr marL="829310" lvl="1" indent="-228600">
              <a:lnSpc>
                <a:spcPct val="100000"/>
              </a:lnSpc>
              <a:spcBef>
                <a:spcPts val="45"/>
              </a:spcBef>
              <a:buFont typeface="Arial"/>
              <a:buChar char="•"/>
              <a:tabLst>
                <a:tab pos="829310" algn="l"/>
              </a:tabLst>
            </a:pPr>
            <a:endParaRPr sz="1800" dirty="0">
              <a:latin typeface="Times New Roman" panose="02020603050405020304" pitchFamily="18" charset="0"/>
              <a:cs typeface="Times New Roman" panose="02020603050405020304" pitchFamily="18" charset="0"/>
            </a:endParaRPr>
          </a:p>
          <a:p>
            <a:pPr marL="372110" indent="-228600">
              <a:lnSpc>
                <a:spcPct val="100000"/>
              </a:lnSpc>
              <a:buFont typeface="Arial"/>
              <a:buChar char="•"/>
              <a:tabLst>
                <a:tab pos="372110" algn="l"/>
              </a:tabLst>
            </a:pPr>
            <a:r>
              <a:rPr sz="1800" spc="-10" dirty="0">
                <a:latin typeface="Times New Roman" panose="02020603050405020304" pitchFamily="18" charset="0"/>
                <a:cs typeface="Times New Roman" panose="02020603050405020304" pitchFamily="18" charset="0"/>
              </a:rPr>
              <a:t>Conclusion</a:t>
            </a:r>
            <a:r>
              <a:rPr lang="en-GB" sz="1800" spc="-10" dirty="0">
                <a:latin typeface="Times New Roman" panose="02020603050405020304" pitchFamily="18" charset="0"/>
                <a:cs typeface="Times New Roman" panose="02020603050405020304" pitchFamily="18" charset="0"/>
              </a:rPr>
              <a:t> &amp; Outlook</a:t>
            </a:r>
            <a:endParaRPr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02171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8" y="603267"/>
            <a:ext cx="10483850" cy="689932"/>
          </a:xfrm>
          <a:prstGeom prst="rect">
            <a:avLst/>
          </a:prstGeom>
        </p:spPr>
        <p:txBody>
          <a:bodyPr vert="horz" wrap="square" lIns="0" tIns="12700" rIns="0" bIns="0" rtlCol="0">
            <a:spAutoFit/>
          </a:bodyPr>
          <a:lstStyle/>
          <a:p>
            <a:pPr marL="12700">
              <a:lnSpc>
                <a:spcPct val="100000"/>
              </a:lnSpc>
              <a:spcBef>
                <a:spcPts val="100"/>
              </a:spcBef>
            </a:pPr>
            <a:r>
              <a:rPr spc="-10" dirty="0">
                <a:latin typeface="Times New Roman" panose="02020603050405020304" pitchFamily="18" charset="0"/>
                <a:cs typeface="Times New Roman" panose="02020603050405020304" pitchFamily="18" charset="0"/>
              </a:rPr>
              <a:t>Conclusion</a:t>
            </a:r>
            <a:r>
              <a:rPr lang="en-GB" spc="-10" dirty="0">
                <a:latin typeface="Times New Roman" panose="02020603050405020304" pitchFamily="18" charset="0"/>
                <a:cs typeface="Times New Roman" panose="02020603050405020304" pitchFamily="18" charset="0"/>
              </a:rPr>
              <a:t>s &amp; Outlook</a:t>
            </a:r>
            <a:endParaRPr spc="-10" dirty="0">
              <a:latin typeface="Times New Roman" panose="02020603050405020304" pitchFamily="18" charset="0"/>
              <a:cs typeface="Times New Roman" panose="02020603050405020304" pitchFamily="18" charset="0"/>
            </a:endParaRPr>
          </a:p>
        </p:txBody>
      </p:sp>
      <p:sp>
        <p:nvSpPr>
          <p:cNvPr id="3" name="object 3"/>
          <p:cNvSpPr/>
          <p:nvPr/>
        </p:nvSpPr>
        <p:spPr>
          <a:xfrm>
            <a:off x="838200" y="1600200"/>
            <a:ext cx="9906000" cy="2831123"/>
          </a:xfrm>
          <a:custGeom>
            <a:avLst/>
            <a:gdLst/>
            <a:ahLst/>
            <a:cxnLst/>
            <a:rect l="l" t="t" r="r" b="b"/>
            <a:pathLst>
              <a:path w="10515600" h="4351655">
                <a:moveTo>
                  <a:pt x="0" y="0"/>
                </a:moveTo>
                <a:lnTo>
                  <a:pt x="10515600" y="0"/>
                </a:lnTo>
                <a:lnTo>
                  <a:pt x="10515600" y="4351338"/>
                </a:lnTo>
                <a:lnTo>
                  <a:pt x="0" y="4351338"/>
                </a:lnTo>
                <a:lnTo>
                  <a:pt x="0" y="0"/>
                </a:lnTo>
                <a:close/>
              </a:path>
            </a:pathLst>
          </a:custGeom>
          <a:ln w="9525">
            <a:solidFill>
              <a:srgbClr val="4472C4"/>
            </a:solidFill>
          </a:ln>
        </p:spPr>
        <p:txBody>
          <a:bodyPr wrap="square" lIns="0" tIns="0" rIns="0" bIns="0" rtlCol="0"/>
          <a:lstStyle/>
          <a:p>
            <a:endParaRPr/>
          </a:p>
        </p:txBody>
      </p:sp>
      <p:sp>
        <p:nvSpPr>
          <p:cNvPr id="4" name="object 4"/>
          <p:cNvSpPr txBox="1"/>
          <p:nvPr/>
        </p:nvSpPr>
        <p:spPr>
          <a:xfrm>
            <a:off x="916938" y="1739530"/>
            <a:ext cx="10288270" cy="2549416"/>
          </a:xfrm>
          <a:prstGeom prst="rect">
            <a:avLst/>
          </a:prstGeom>
        </p:spPr>
        <p:txBody>
          <a:bodyPr vert="horz" wrap="square" lIns="0" tIns="48260" rIns="0" bIns="0" rtlCol="0">
            <a:spAutoFit/>
          </a:bodyPr>
          <a:lstStyle/>
          <a:p>
            <a:pPr marL="254000" marR="444500" indent="-228600">
              <a:lnSpc>
                <a:spcPts val="1900"/>
              </a:lnSpc>
              <a:spcBef>
                <a:spcPts val="380"/>
              </a:spcBef>
              <a:buFont typeface="Arial"/>
              <a:buChar char="•"/>
              <a:tabLst>
                <a:tab pos="254000" algn="l"/>
              </a:tabLst>
            </a:pPr>
            <a:r>
              <a:rPr lang="en-GB" sz="1800" dirty="0">
                <a:latin typeface="Times New Roman" panose="02020603050405020304" pitchFamily="18" charset="0"/>
                <a:cs typeface="Times New Roman" panose="02020603050405020304" pitchFamily="18" charset="0"/>
              </a:rPr>
              <a:t>Results indicate that CH4 cluster expansion under the laser pre-pulse is much greater than expected</a:t>
            </a:r>
          </a:p>
          <a:p>
            <a:pPr marL="254000" marR="444500" indent="-228600">
              <a:lnSpc>
                <a:spcPts val="1900"/>
              </a:lnSpc>
              <a:spcBef>
                <a:spcPts val="380"/>
              </a:spcBef>
              <a:buFont typeface="Arial"/>
              <a:buChar char="•"/>
              <a:tabLst>
                <a:tab pos="254000" algn="l"/>
              </a:tabLst>
            </a:pPr>
            <a:endParaRPr lang="en-GB" dirty="0">
              <a:latin typeface="Times New Roman" panose="02020603050405020304" pitchFamily="18" charset="0"/>
              <a:cs typeface="Times New Roman" panose="02020603050405020304" pitchFamily="18" charset="0"/>
            </a:endParaRPr>
          </a:p>
          <a:p>
            <a:pPr marL="254000" marR="444500" indent="-228600">
              <a:lnSpc>
                <a:spcPts val="1900"/>
              </a:lnSpc>
              <a:spcBef>
                <a:spcPts val="380"/>
              </a:spcBef>
              <a:buFont typeface="Arial"/>
              <a:buChar char="•"/>
              <a:tabLst>
                <a:tab pos="254000" algn="l"/>
              </a:tabLst>
            </a:pPr>
            <a:r>
              <a:rPr lang="en-GB" sz="1800" dirty="0">
                <a:latin typeface="Times New Roman" panose="02020603050405020304" pitchFamily="18" charset="0"/>
                <a:cs typeface="Times New Roman" panose="02020603050405020304" pitchFamily="18" charset="0"/>
              </a:rPr>
              <a:t>Simulations with the inclusion of background plasma may indicate a less aggressive cluster expansion, due to Debye shielding</a:t>
            </a:r>
          </a:p>
          <a:p>
            <a:pPr marL="25400" marR="444500">
              <a:lnSpc>
                <a:spcPts val="1900"/>
              </a:lnSpc>
              <a:spcBef>
                <a:spcPts val="380"/>
              </a:spcBef>
              <a:tabLst>
                <a:tab pos="254000" algn="l"/>
              </a:tabLst>
            </a:pPr>
            <a:endParaRPr lang="en-GB" sz="1800" dirty="0">
              <a:latin typeface="Times New Roman" panose="02020603050405020304" pitchFamily="18" charset="0"/>
              <a:cs typeface="Times New Roman" panose="02020603050405020304" pitchFamily="18" charset="0"/>
            </a:endParaRPr>
          </a:p>
          <a:p>
            <a:pPr marL="254000" marR="444500" indent="-228600">
              <a:lnSpc>
                <a:spcPts val="1900"/>
              </a:lnSpc>
              <a:spcBef>
                <a:spcPts val="380"/>
              </a:spcBef>
              <a:buFont typeface="Arial"/>
              <a:buChar char="•"/>
              <a:tabLst>
                <a:tab pos="254000" algn="l"/>
              </a:tabLst>
            </a:pPr>
            <a:r>
              <a:rPr lang="en-GB" sz="1800" dirty="0">
                <a:latin typeface="Times New Roman" panose="02020603050405020304" pitchFamily="18" charset="0"/>
                <a:cs typeface="Times New Roman" panose="02020603050405020304" pitchFamily="18" charset="0"/>
              </a:rPr>
              <a:t>Further simulation of pre-pulse expansion is required, with a higher particle density and a larger simulation box size </a:t>
            </a:r>
          </a:p>
          <a:p>
            <a:pPr marL="254000" marR="444500" indent="-228600">
              <a:lnSpc>
                <a:spcPts val="1900"/>
              </a:lnSpc>
              <a:spcBef>
                <a:spcPts val="380"/>
              </a:spcBef>
              <a:buFont typeface="Arial"/>
              <a:buChar char="•"/>
              <a:tabLst>
                <a:tab pos="254000" algn="l"/>
              </a:tabLst>
            </a:pPr>
            <a:endParaRPr lang="en-GB" dirty="0">
              <a:latin typeface="Times New Roman" panose="02020603050405020304" pitchFamily="18" charset="0"/>
              <a:cs typeface="Times New Roman" panose="02020603050405020304" pitchFamily="18" charset="0"/>
            </a:endParaRPr>
          </a:p>
          <a:p>
            <a:pPr marL="254000" marR="444500" indent="-228600">
              <a:lnSpc>
                <a:spcPts val="1900"/>
              </a:lnSpc>
              <a:spcBef>
                <a:spcPts val="380"/>
              </a:spcBef>
              <a:buFont typeface="Arial"/>
              <a:buChar char="•"/>
              <a:tabLst>
                <a:tab pos="254000" algn="l"/>
              </a:tabLst>
            </a:pPr>
            <a:r>
              <a:rPr lang="en-GB" dirty="0">
                <a:latin typeface="Times New Roman" panose="02020603050405020304" pitchFamily="18" charset="0"/>
                <a:cs typeface="Times New Roman" panose="02020603050405020304" pitchFamily="18" charset="0"/>
              </a:rPr>
              <a:t>Compare un-clustered and clustered CH4 LWFA simulations over a range of cluster densities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682940"/>
            <a:ext cx="10515600" cy="689932"/>
          </a:xfrm>
          <a:prstGeom prst="rect">
            <a:avLst/>
          </a:prstGeom>
        </p:spPr>
        <p:txBody>
          <a:bodyPr vert="horz" wrap="square" lIns="0" tIns="12700" rIns="0" bIns="0" rtlCol="0">
            <a:spAutoFit/>
          </a:bodyPr>
          <a:lstStyle/>
          <a:p>
            <a:pPr marL="12700">
              <a:lnSpc>
                <a:spcPct val="100000"/>
              </a:lnSpc>
              <a:spcBef>
                <a:spcPts val="100"/>
              </a:spcBef>
            </a:pPr>
            <a:r>
              <a:rPr spc="-10" dirty="0">
                <a:latin typeface="Times New Roman" panose="02020603050405020304" pitchFamily="18" charset="0"/>
                <a:cs typeface="Times New Roman" panose="02020603050405020304" pitchFamily="18" charset="0"/>
              </a:rPr>
              <a:t>References</a:t>
            </a:r>
          </a:p>
        </p:txBody>
      </p:sp>
      <p:sp>
        <p:nvSpPr>
          <p:cNvPr id="3" name="object 3"/>
          <p:cNvSpPr txBox="1"/>
          <p:nvPr/>
        </p:nvSpPr>
        <p:spPr>
          <a:xfrm>
            <a:off x="916939" y="1721611"/>
            <a:ext cx="10266680" cy="2477730"/>
          </a:xfrm>
          <a:prstGeom prst="rect">
            <a:avLst/>
          </a:prstGeom>
        </p:spPr>
        <p:txBody>
          <a:bodyPr vert="horz" wrap="square" lIns="0" tIns="41275" rIns="0" bIns="0" rtlCol="0">
            <a:spAutoFit/>
          </a:bodyPr>
          <a:lstStyle/>
          <a:p>
            <a:pPr marL="355600" marR="46990" indent="-342900">
              <a:lnSpc>
                <a:spcPct val="89600"/>
              </a:lnSpc>
              <a:spcBef>
                <a:spcPts val="325"/>
              </a:spcBef>
              <a:buFont typeface="+mj-lt"/>
              <a:buAutoNum type="arabicPeriod"/>
              <a:tabLst>
                <a:tab pos="384175" algn="l"/>
              </a:tabLst>
            </a:pPr>
            <a:r>
              <a:rPr lang="en-GB" dirty="0">
                <a:latin typeface="Times New Roman" panose="02020603050405020304" pitchFamily="18" charset="0"/>
                <a:cs typeface="Times New Roman" panose="02020603050405020304" pitchFamily="18" charset="0"/>
              </a:rPr>
              <a:t>J. D. Ludwig et al., </a:t>
            </a:r>
            <a:r>
              <a:rPr lang="en-GB" i="1" dirty="0">
                <a:latin typeface="Times New Roman" panose="02020603050405020304" pitchFamily="18" charset="0"/>
                <a:cs typeface="Times New Roman" panose="02020603050405020304" pitchFamily="18" charset="0"/>
              </a:rPr>
              <a:t>Laser based 100 GeV electron acceleration scheme for muon production</a:t>
            </a:r>
            <a:r>
              <a:rPr lang="en-GB" dirty="0">
                <a:latin typeface="Times New Roman" panose="02020603050405020304" pitchFamily="18" charset="0"/>
                <a:cs typeface="Times New Roman" panose="02020603050405020304" pitchFamily="18" charset="0"/>
              </a:rPr>
              <a:t>, </a:t>
            </a:r>
            <a:r>
              <a:rPr lang="en-GB" i="1" dirty="0">
                <a:latin typeface="Times New Roman" panose="02020603050405020304" pitchFamily="18" charset="0"/>
                <a:cs typeface="Times New Roman" panose="02020603050405020304" pitchFamily="18" charset="0"/>
              </a:rPr>
              <a:t>Scientific Reports</a:t>
            </a:r>
            <a:r>
              <a:rPr lang="en-GB" dirty="0">
                <a:latin typeface="Times New Roman" panose="02020603050405020304" pitchFamily="18" charset="0"/>
                <a:cs typeface="Times New Roman" panose="02020603050405020304" pitchFamily="18" charset="0"/>
              </a:rPr>
              <a:t>, 15, 25902 (2025). DOI: 10.1038/s41598-025-95440-w</a:t>
            </a:r>
          </a:p>
          <a:p>
            <a:pPr marL="355600" marR="46990" indent="-342900">
              <a:lnSpc>
                <a:spcPct val="89600"/>
              </a:lnSpc>
              <a:spcBef>
                <a:spcPts val="325"/>
              </a:spcBef>
              <a:buFont typeface="+mj-lt"/>
              <a:buAutoNum type="arabicPeriod"/>
              <a:tabLst>
                <a:tab pos="384175" algn="l"/>
              </a:tabLst>
            </a:pPr>
            <a:endParaRPr lang="en-GB" dirty="0">
              <a:latin typeface="Times New Roman" panose="02020603050405020304" pitchFamily="18" charset="0"/>
              <a:cs typeface="Times New Roman" panose="02020603050405020304" pitchFamily="18" charset="0"/>
            </a:endParaRPr>
          </a:p>
          <a:p>
            <a:pPr marL="355600" marR="46990" indent="-342900">
              <a:lnSpc>
                <a:spcPct val="89600"/>
              </a:lnSpc>
              <a:spcBef>
                <a:spcPts val="325"/>
              </a:spcBef>
              <a:buFont typeface="+mj-lt"/>
              <a:buAutoNum type="arabicPeriod"/>
              <a:tabLst>
                <a:tab pos="384175" algn="l"/>
              </a:tabLst>
            </a:pPr>
            <a:r>
              <a:rPr lang="en-GB" dirty="0">
                <a:latin typeface="Times New Roman" panose="02020603050405020304" pitchFamily="18" charset="0"/>
                <a:cs typeface="Times New Roman" panose="02020603050405020304" pitchFamily="18" charset="0"/>
              </a:rPr>
              <a:t>S. V. Rozario, </a:t>
            </a:r>
            <a:r>
              <a:rPr lang="en-GB" i="1" dirty="0">
                <a:latin typeface="Times New Roman" panose="02020603050405020304" pitchFamily="18" charset="0"/>
                <a:cs typeface="Times New Roman" panose="02020603050405020304" pitchFamily="18" charset="0"/>
              </a:rPr>
              <a:t>Novel Injection and </a:t>
            </a:r>
            <a:r>
              <a:rPr lang="en-GB" i="1" dirty="0" err="1">
                <a:latin typeface="Times New Roman" panose="02020603050405020304" pitchFamily="18" charset="0"/>
                <a:cs typeface="Times New Roman" panose="02020603050405020304" pitchFamily="18" charset="0"/>
              </a:rPr>
              <a:t>Targetry</a:t>
            </a:r>
            <a:r>
              <a:rPr lang="en-GB" i="1" dirty="0">
                <a:latin typeface="Times New Roman" panose="02020603050405020304" pitchFamily="18" charset="0"/>
                <a:cs typeface="Times New Roman" panose="02020603050405020304" pitchFamily="18" charset="0"/>
              </a:rPr>
              <a:t> in Laser Wakefield Acceleration</a:t>
            </a:r>
            <a:r>
              <a:rPr lang="en-GB" dirty="0">
                <a:latin typeface="Times New Roman" panose="02020603050405020304" pitchFamily="18" charset="0"/>
                <a:cs typeface="Times New Roman" panose="02020603050405020304" pitchFamily="18" charset="0"/>
              </a:rPr>
              <a:t>, PhD thesis, Imperial College London (2019)</a:t>
            </a:r>
          </a:p>
          <a:p>
            <a:pPr marL="355600" marR="46990" indent="-342900">
              <a:lnSpc>
                <a:spcPct val="89600"/>
              </a:lnSpc>
              <a:spcBef>
                <a:spcPts val="325"/>
              </a:spcBef>
              <a:buFont typeface="+mj-lt"/>
              <a:buAutoNum type="arabicPeriod"/>
              <a:tabLst>
                <a:tab pos="384175" algn="l"/>
              </a:tabLst>
            </a:pPr>
            <a:endParaRPr lang="en-GB" dirty="0">
              <a:latin typeface="Times New Roman" panose="02020603050405020304" pitchFamily="18" charset="0"/>
              <a:cs typeface="Times New Roman" panose="02020603050405020304" pitchFamily="18" charset="0"/>
            </a:endParaRPr>
          </a:p>
          <a:p>
            <a:pPr marL="355600" marR="46990" indent="-342900">
              <a:lnSpc>
                <a:spcPct val="89600"/>
              </a:lnSpc>
              <a:spcBef>
                <a:spcPts val="325"/>
              </a:spcBef>
              <a:buFont typeface="+mj-lt"/>
              <a:buAutoNum type="arabicPeriod"/>
              <a:tabLst>
                <a:tab pos="384175" algn="l"/>
              </a:tabLst>
            </a:pPr>
            <a:r>
              <a:rPr lang="en-GB" dirty="0">
                <a:latin typeface="Times New Roman" panose="02020603050405020304" pitchFamily="18" charset="0"/>
                <a:cs typeface="Times New Roman" panose="02020603050405020304" pitchFamily="18" charset="0"/>
              </a:rPr>
              <a:t>M. W. von der Leyen, </a:t>
            </a:r>
            <a:r>
              <a:rPr lang="en-GB" i="1" dirty="0">
                <a:latin typeface="Times New Roman" panose="02020603050405020304" pitchFamily="18" charset="0"/>
                <a:cs typeface="Times New Roman" panose="02020603050405020304" pitchFamily="18" charset="0"/>
              </a:rPr>
              <a:t>Study of Novel Electron Injection Mechanisms for Laser-Wakefield Accelerators</a:t>
            </a:r>
            <a:r>
              <a:rPr lang="en-GB" dirty="0">
                <a:latin typeface="Times New Roman" panose="02020603050405020304" pitchFamily="18" charset="0"/>
                <a:cs typeface="Times New Roman" panose="02020603050405020304" pitchFamily="18" charset="0"/>
              </a:rPr>
              <a:t>, University of Oxford, (2021)</a:t>
            </a:r>
          </a:p>
          <a:p>
            <a:pPr marL="355600" marR="46990" indent="-342900">
              <a:lnSpc>
                <a:spcPct val="89600"/>
              </a:lnSpc>
              <a:spcBef>
                <a:spcPts val="325"/>
              </a:spcBef>
              <a:buFont typeface="+mj-lt"/>
              <a:buAutoNum type="arabicPeriod"/>
              <a:tabLst>
                <a:tab pos="384175" algn="l"/>
              </a:tabLst>
            </a:pPr>
            <a:endParaRPr lang="en-GB"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033233"/>
            <a:ext cx="3506205" cy="689932"/>
          </a:xfrm>
          <a:prstGeom prst="rect">
            <a:avLst/>
          </a:prstGeom>
        </p:spPr>
        <p:txBody>
          <a:bodyPr vert="horz" wrap="square" lIns="0" tIns="12700" rIns="0" bIns="0" rtlCol="0">
            <a:spAutoFit/>
          </a:bodyPr>
          <a:lstStyle/>
          <a:p>
            <a:pPr marL="12700">
              <a:lnSpc>
                <a:spcPct val="100000"/>
              </a:lnSpc>
              <a:spcBef>
                <a:spcPts val="100"/>
              </a:spcBef>
            </a:pPr>
            <a:r>
              <a:rPr spc="-10" dirty="0">
                <a:latin typeface="Times New Roman" panose="02020603050405020304" pitchFamily="18" charset="0"/>
                <a:cs typeface="Times New Roman" panose="02020603050405020304" pitchFamily="18" charset="0"/>
              </a:rPr>
              <a:t>Questions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8" y="3033233"/>
            <a:ext cx="4378075" cy="689932"/>
          </a:xfrm>
          <a:prstGeom prst="rect">
            <a:avLst/>
          </a:prstGeom>
        </p:spPr>
        <p:txBody>
          <a:bodyPr vert="horz" wrap="square" lIns="0" tIns="12700" rIns="0" bIns="0" rtlCol="0">
            <a:spAutoFit/>
          </a:bodyPr>
          <a:lstStyle/>
          <a:p>
            <a:pPr marL="12700">
              <a:lnSpc>
                <a:spcPct val="100000"/>
              </a:lnSpc>
              <a:spcBef>
                <a:spcPts val="100"/>
              </a:spcBef>
            </a:pPr>
            <a:r>
              <a:rPr spc="-30" dirty="0">
                <a:latin typeface="Times New Roman" panose="02020603050405020304" pitchFamily="18" charset="0"/>
                <a:cs typeface="Times New Roman" panose="02020603050405020304" pitchFamily="18" charset="0"/>
              </a:rPr>
              <a:t>Additional</a:t>
            </a:r>
            <a:r>
              <a:rPr spc="-16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slides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ADF5B-86AB-C6FD-9494-EC0B5227619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Liquid CH4 cluster density calculation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759F1C5-D387-D6B1-D357-168C95A47632}"/>
                  </a:ext>
                </a:extLst>
              </p:cNvPr>
              <p:cNvSpPr>
                <a:spLocks noGrp="1"/>
              </p:cNvSpPr>
              <p:nvPr>
                <p:ph idx="1"/>
              </p:nvPr>
            </p:nvSpPr>
            <p:spPr>
              <a:xfrm>
                <a:off x="838200" y="1825625"/>
                <a:ext cx="10657114" cy="4351338"/>
              </a:xfrm>
            </p:spPr>
            <p:txBody>
              <a:bodyPr/>
              <a:lstStyle/>
              <a:p>
                <a:r>
                  <a:rPr lang="en-US" dirty="0">
                    <a:latin typeface="Times New Roman" panose="02020603050405020304" pitchFamily="18" charset="0"/>
                    <a:cs typeface="Times New Roman" panose="02020603050405020304" pitchFamily="18" charset="0"/>
                  </a:rPr>
                  <a:t>Liquid methane </a:t>
                </a:r>
                <a14:m>
                  <m:oMath xmlns:m="http://schemas.openxmlformats.org/officeDocument/2006/math">
                    <m:r>
                      <a:rPr lang="en-US" i="1" smtClean="0">
                        <a:latin typeface="Cambria Math" panose="02040503050406030204" pitchFamily="18" charset="0"/>
                        <a:ea typeface="Cambria Math" panose="02040503050406030204" pitchFamily="18" charset="0"/>
                      </a:rPr>
                      <m:t>𝜌</m:t>
                    </m:r>
                    <m:r>
                      <a:rPr lang="en-GB" b="0" i="1" smtClean="0">
                        <a:latin typeface="Cambria Math" panose="02040503050406030204" pitchFamily="18" charset="0"/>
                        <a:ea typeface="Cambria Math" panose="02040503050406030204" pitchFamily="18" charset="0"/>
                      </a:rPr>
                      <m:t>=0.42</m:t>
                    </m:r>
                    <m:r>
                      <a:rPr lang="en-GB" b="0" i="1" smtClean="0">
                        <a:latin typeface="Cambria Math" panose="02040503050406030204" pitchFamily="18" charset="0"/>
                        <a:ea typeface="Cambria Math" panose="02040503050406030204" pitchFamily="18" charset="0"/>
                      </a:rPr>
                      <m:t>𝑔</m:t>
                    </m:r>
                    <m:sSup>
                      <m:sSupPr>
                        <m:ctrlPr>
                          <a:rPr lang="en-US" b="0" i="1" smtClean="0">
                            <a:latin typeface="Cambria Math" panose="02040503050406030204" pitchFamily="18" charset="0"/>
                            <a:ea typeface="Cambria Math" panose="02040503050406030204" pitchFamily="18" charset="0"/>
                          </a:rPr>
                        </m:ctrlPr>
                      </m:sSupPr>
                      <m:e>
                        <m:r>
                          <a:rPr lang="en-GB" b="0" i="1" smtClean="0">
                            <a:latin typeface="Cambria Math" panose="02040503050406030204" pitchFamily="18" charset="0"/>
                            <a:ea typeface="Cambria Math" panose="02040503050406030204" pitchFamily="18" charset="0"/>
                          </a:rPr>
                          <m:t>𝑐𝑚</m:t>
                        </m:r>
                      </m:e>
                      <m:sup>
                        <m:r>
                          <a:rPr lang="en-GB" b="0" i="1" smtClean="0">
                            <a:latin typeface="Cambria Math" panose="02040503050406030204" pitchFamily="18" charset="0"/>
                            <a:ea typeface="Cambria Math" panose="02040503050406030204" pitchFamily="18" charset="0"/>
                          </a:rPr>
                          <m:t>−3</m:t>
                        </m:r>
                      </m:sup>
                    </m:sSup>
                  </m:oMath>
                </a14:m>
                <a:r>
                  <a:rPr lang="en-US" dirty="0">
                    <a:latin typeface="Times New Roman" panose="02020603050405020304" pitchFamily="18" charset="0"/>
                    <a:cs typeface="Times New Roman" panose="02020603050405020304" pitchFamily="18" charset="0"/>
                  </a:rPr>
                  <a:t>, molecular mass </a:t>
                </a:r>
                <a14:m>
                  <m:oMath xmlns:m="http://schemas.openxmlformats.org/officeDocument/2006/math">
                    <m:r>
                      <a:rPr lang="en-GB" b="0" i="1" smtClean="0">
                        <a:latin typeface="Cambria Math" panose="02040503050406030204" pitchFamily="18" charset="0"/>
                      </a:rPr>
                      <m:t>𝑀</m:t>
                    </m:r>
                    <m:r>
                      <a:rPr lang="en-GB" b="0" i="1" smtClean="0">
                        <a:latin typeface="Cambria Math" panose="02040503050406030204" pitchFamily="18" charset="0"/>
                      </a:rPr>
                      <m:t>=16.04 </m:t>
                    </m:r>
                    <m:r>
                      <a:rPr lang="en-GB" b="0" i="1" smtClean="0">
                        <a:latin typeface="Cambria Math" panose="02040503050406030204" pitchFamily="18" charset="0"/>
                      </a:rPr>
                      <m:t>𝑔</m:t>
                    </m:r>
                    <m:sSup>
                      <m:sSupPr>
                        <m:ctrlPr>
                          <a:rPr lang="en-US" b="0" i="1" smtClean="0">
                            <a:latin typeface="Cambria Math" panose="02040503050406030204" pitchFamily="18" charset="0"/>
                          </a:rPr>
                        </m:ctrlPr>
                      </m:sSupPr>
                      <m:e>
                        <m:r>
                          <a:rPr lang="en-GB" b="0" i="1" smtClean="0">
                            <a:latin typeface="Cambria Math" panose="02040503050406030204" pitchFamily="18" charset="0"/>
                          </a:rPr>
                          <m:t>𝑚𝑜𝑙</m:t>
                        </m:r>
                      </m:e>
                      <m:sup>
                        <m:r>
                          <a:rPr lang="en-GB" b="0" i="1" smtClean="0">
                            <a:latin typeface="Cambria Math" panose="02040503050406030204" pitchFamily="18" charset="0"/>
                          </a:rPr>
                          <m:t>−1</m:t>
                        </m:r>
                      </m:sup>
                    </m:sSup>
                  </m:oMath>
                </a14:m>
                <a:endParaRPr lang="en-GB" b="0" dirty="0">
                  <a:latin typeface="Times New Roman" panose="02020603050405020304" pitchFamily="18" charset="0"/>
                  <a:cs typeface="Times New Roman" panose="02020603050405020304" pitchFamily="18" charset="0"/>
                </a:endParaRPr>
              </a:p>
              <a:p>
                <a:r>
                  <a:rPr lang="en-GB" dirty="0">
                    <a:latin typeface="Times New Roman" panose="02020603050405020304" pitchFamily="18" charset="0"/>
                    <a:cs typeface="Times New Roman" panose="02020603050405020304" pitchFamily="18" charset="0"/>
                  </a:rPr>
                  <a:t>Yields electron n</a:t>
                </a:r>
                <a:r>
                  <a:rPr lang="en-GB" b="0" dirty="0">
                    <a:latin typeface="Times New Roman" panose="02020603050405020304" pitchFamily="18" charset="0"/>
                    <a:cs typeface="Times New Roman" panose="02020603050405020304" pitchFamily="18" charset="0"/>
                  </a:rPr>
                  <a:t>umber density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𝑛</m:t>
                        </m:r>
                      </m:e>
                      <m:sub>
                        <m:r>
                          <a:rPr lang="en-GB" b="0" i="1" smtClean="0">
                            <a:latin typeface="Cambria Math" panose="02040503050406030204" pitchFamily="18" charset="0"/>
                          </a:rPr>
                          <m:t>𝑒</m:t>
                        </m:r>
                      </m:sub>
                    </m:sSub>
                    <m:r>
                      <a:rPr lang="en-GB" b="0" i="1" smtClean="0">
                        <a:latin typeface="Cambria Math" panose="02040503050406030204" pitchFamily="18" charset="0"/>
                      </a:rPr>
                      <m:t>=1.58 </m:t>
                    </m:r>
                    <m:r>
                      <a:rPr lang="en-GB" b="0" i="1" smtClean="0">
                        <a:latin typeface="Cambria Math" panose="02040503050406030204" pitchFamily="18" charset="0"/>
                        <a:ea typeface="Cambria Math" panose="02040503050406030204" pitchFamily="18" charset="0"/>
                      </a:rPr>
                      <m:t>× </m:t>
                    </m:r>
                    <m:sSup>
                      <m:sSupPr>
                        <m:ctrlPr>
                          <a:rPr lang="en-GB" b="0" i="1" smtClean="0">
                            <a:latin typeface="Cambria Math" panose="02040503050406030204" pitchFamily="18" charset="0"/>
                            <a:ea typeface="Cambria Math" panose="02040503050406030204" pitchFamily="18" charset="0"/>
                          </a:rPr>
                        </m:ctrlPr>
                      </m:sSupPr>
                      <m:e>
                        <m:r>
                          <a:rPr lang="en-GB" b="0" i="1" smtClean="0">
                            <a:latin typeface="Cambria Math" panose="02040503050406030204" pitchFamily="18" charset="0"/>
                            <a:ea typeface="Cambria Math" panose="02040503050406030204" pitchFamily="18" charset="0"/>
                          </a:rPr>
                          <m:t>10</m:t>
                        </m:r>
                      </m:e>
                      <m:sup>
                        <m:r>
                          <a:rPr lang="en-GB" b="0" i="1" smtClean="0">
                            <a:latin typeface="Cambria Math" panose="02040503050406030204" pitchFamily="18" charset="0"/>
                            <a:ea typeface="Cambria Math" panose="02040503050406030204" pitchFamily="18" charset="0"/>
                          </a:rPr>
                          <m:t>23</m:t>
                        </m:r>
                      </m:sup>
                    </m:sSup>
                    <m:r>
                      <a:rPr lang="en-GB" b="0" i="1" smtClean="0">
                        <a:latin typeface="Cambria Math" panose="02040503050406030204" pitchFamily="18" charset="0"/>
                        <a:ea typeface="Cambria Math" panose="02040503050406030204" pitchFamily="18" charset="0"/>
                      </a:rPr>
                      <m:t>=91</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𝑛</m:t>
                        </m:r>
                      </m:e>
                      <m:sub>
                        <m:r>
                          <a:rPr lang="en-GB" b="0" i="1" smtClean="0">
                            <a:latin typeface="Cambria Math" panose="02040503050406030204" pitchFamily="18" charset="0"/>
                            <a:ea typeface="Cambria Math" panose="02040503050406030204" pitchFamily="18" charset="0"/>
                          </a:rPr>
                          <m:t>𝑐𝑟𝑖𝑡</m:t>
                        </m:r>
                      </m:sub>
                    </m:sSub>
                  </m:oMath>
                </a14:m>
                <a:r>
                  <a:rPr lang="en-GB" b="0" dirty="0">
                    <a:latin typeface="Times New Roman" panose="02020603050405020304" pitchFamily="18" charset="0"/>
                    <a:cs typeface="Times New Roman" panose="02020603050405020304" pitchFamily="18" charset="0"/>
                  </a:rPr>
                  <a:t>, assuming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𝑛</m:t>
                        </m:r>
                      </m:e>
                      <m:sub>
                        <m:r>
                          <a:rPr lang="en-GB" b="0" i="1" smtClean="0">
                            <a:latin typeface="Cambria Math" panose="02040503050406030204" pitchFamily="18" charset="0"/>
                          </a:rPr>
                          <m:t>𝑒</m:t>
                        </m:r>
                      </m:sub>
                    </m:sSub>
                    <m:r>
                      <a:rPr lang="en-GB" b="0" i="1" smtClean="0">
                        <a:latin typeface="Cambria Math" panose="02040503050406030204" pitchFamily="18" charset="0"/>
                      </a:rPr>
                      <m:t>=10</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𝑛</m:t>
                        </m:r>
                      </m:e>
                      <m:sub>
                        <m:r>
                          <a:rPr lang="en-GB" b="0" i="1" smtClean="0">
                            <a:latin typeface="Cambria Math" panose="02040503050406030204" pitchFamily="18" charset="0"/>
                          </a:rPr>
                          <m:t>𝐶𝐻</m:t>
                        </m:r>
                        <m:r>
                          <a:rPr lang="en-GB" b="0" i="1" smtClean="0">
                            <a:latin typeface="Cambria Math" panose="02040503050406030204" pitchFamily="18" charset="0"/>
                          </a:rPr>
                          <m:t>4</m:t>
                        </m:r>
                      </m:sub>
                    </m:sSub>
                  </m:oMath>
                </a14:m>
                <a:endParaRPr lang="en-GB" b="0" dirty="0">
                  <a:latin typeface="Times New Roman" panose="02020603050405020304" pitchFamily="18" charset="0"/>
                  <a:cs typeface="Times New Roman" panose="02020603050405020304" pitchFamily="18" charset="0"/>
                </a:endParaRPr>
              </a:p>
              <a:p>
                <a:r>
                  <a:rPr lang="en-GB" dirty="0">
                    <a:latin typeface="Times New Roman" panose="02020603050405020304" pitchFamily="18" charset="0"/>
                    <a:cs typeface="Times New Roman" panose="02020603050405020304" pitchFamily="18" charset="0"/>
                  </a:rPr>
                  <a:t>Cluster radius of </a:t>
                </a:r>
                <a14:m>
                  <m:oMath xmlns:m="http://schemas.openxmlformats.org/officeDocument/2006/math">
                    <m:r>
                      <a:rPr lang="en-GB" b="0" i="1" smtClean="0">
                        <a:latin typeface="Cambria Math" panose="02040503050406030204" pitchFamily="18" charset="0"/>
                      </a:rPr>
                      <m:t>50</m:t>
                    </m:r>
                    <m:r>
                      <a:rPr lang="en-GB" b="0" i="1" smtClean="0">
                        <a:latin typeface="Cambria Math" panose="02040503050406030204" pitchFamily="18" charset="0"/>
                      </a:rPr>
                      <m:t>𝑛𝑚</m:t>
                    </m:r>
                  </m:oMath>
                </a14:m>
                <a:r>
                  <a:rPr lang="en-GB" b="0" dirty="0">
                    <a:latin typeface="Times New Roman" panose="02020603050405020304" pitchFamily="18" charset="0"/>
                    <a:cs typeface="Times New Roman" panose="02020603050405020304" pitchFamily="18" charset="0"/>
                  </a:rPr>
                  <a:t> in simulations,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𝑉</m:t>
                        </m:r>
                      </m:e>
                      <m:sub>
                        <m:r>
                          <a:rPr lang="en-GB" b="0" i="1" smtClean="0">
                            <a:latin typeface="Cambria Math" panose="02040503050406030204" pitchFamily="18" charset="0"/>
                          </a:rPr>
                          <m:t>𝑐𝑙𝑢𝑠𝑡𝑒𝑟</m:t>
                        </m:r>
                      </m:sub>
                    </m:sSub>
                    <m:r>
                      <a:rPr lang="en-GB" b="0" i="1" smtClean="0">
                        <a:latin typeface="Cambria Math" panose="02040503050406030204" pitchFamily="18" charset="0"/>
                      </a:rPr>
                      <m:t>=5.24 </m:t>
                    </m:r>
                    <m:r>
                      <a:rPr lang="en-GB" b="0" i="1" smtClean="0">
                        <a:latin typeface="Cambria Math" panose="02040503050406030204" pitchFamily="18" charset="0"/>
                        <a:ea typeface="Cambria Math" panose="02040503050406030204" pitchFamily="18" charset="0"/>
                      </a:rPr>
                      <m:t>× </m:t>
                    </m:r>
                    <m:sSup>
                      <m:sSupPr>
                        <m:ctrlPr>
                          <a:rPr lang="en-GB" b="0" i="1" smtClean="0">
                            <a:latin typeface="Cambria Math" panose="02040503050406030204" pitchFamily="18" charset="0"/>
                            <a:ea typeface="Cambria Math" panose="02040503050406030204" pitchFamily="18" charset="0"/>
                          </a:rPr>
                        </m:ctrlPr>
                      </m:sSupPr>
                      <m:e>
                        <m:r>
                          <a:rPr lang="en-GB" b="0" i="1" smtClean="0">
                            <a:latin typeface="Cambria Math" panose="02040503050406030204" pitchFamily="18" charset="0"/>
                            <a:ea typeface="Cambria Math" panose="02040503050406030204" pitchFamily="18" charset="0"/>
                          </a:rPr>
                          <m:t>10</m:t>
                        </m:r>
                      </m:e>
                      <m:sup>
                        <m:r>
                          <a:rPr lang="en-GB" b="0" i="1" smtClean="0">
                            <a:latin typeface="Cambria Math" panose="02040503050406030204" pitchFamily="18" charset="0"/>
                            <a:ea typeface="Cambria Math" panose="02040503050406030204" pitchFamily="18" charset="0"/>
                          </a:rPr>
                          <m:t>−22</m:t>
                        </m:r>
                      </m:sup>
                    </m:sSup>
                    <m:sSup>
                      <m:sSupPr>
                        <m:ctrlPr>
                          <a:rPr lang="en-GB" b="0" i="1" smtClean="0">
                            <a:latin typeface="Cambria Math" panose="02040503050406030204" pitchFamily="18" charset="0"/>
                            <a:ea typeface="Cambria Math" panose="02040503050406030204" pitchFamily="18" charset="0"/>
                          </a:rPr>
                        </m:ctrlPr>
                      </m:sSupPr>
                      <m:e>
                        <m:r>
                          <a:rPr lang="en-GB" b="0" i="1" smtClean="0">
                            <a:latin typeface="Cambria Math" panose="02040503050406030204" pitchFamily="18" charset="0"/>
                            <a:ea typeface="Cambria Math" panose="02040503050406030204" pitchFamily="18" charset="0"/>
                          </a:rPr>
                          <m:t> </m:t>
                        </m:r>
                        <m:r>
                          <a:rPr lang="en-GB" b="0" i="1" smtClean="0">
                            <a:latin typeface="Cambria Math" panose="02040503050406030204" pitchFamily="18" charset="0"/>
                            <a:ea typeface="Cambria Math" panose="02040503050406030204" pitchFamily="18" charset="0"/>
                          </a:rPr>
                          <m:t>𝑚</m:t>
                        </m:r>
                      </m:e>
                      <m:sup>
                        <m:r>
                          <a:rPr lang="en-GB" b="0" i="1" smtClean="0">
                            <a:latin typeface="Cambria Math" panose="02040503050406030204" pitchFamily="18" charset="0"/>
                            <a:ea typeface="Cambria Math" panose="02040503050406030204" pitchFamily="18" charset="0"/>
                          </a:rPr>
                          <m:t>−3</m:t>
                        </m:r>
                      </m:sup>
                    </m:sSup>
                  </m:oMath>
                </a14:m>
                <a:endParaRPr lang="en-GB" b="0" dirty="0">
                  <a:latin typeface="Times New Roman" panose="02020603050405020304" pitchFamily="18" charset="0"/>
                  <a:cs typeface="Times New Roman" panose="02020603050405020304" pitchFamily="18" charset="0"/>
                </a:endParaRPr>
              </a:p>
              <a:p>
                <a:r>
                  <a:rPr lang="en-GB" dirty="0">
                    <a:latin typeface="Times New Roman" panose="02020603050405020304" pitchFamily="18" charset="0"/>
                    <a:cs typeface="Times New Roman" panose="02020603050405020304" pitchFamily="18" charset="0"/>
                  </a:rPr>
                  <a:t>This gives </a:t>
                </a:r>
                <a14:m>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𝐶𝐻</m:t>
                        </m:r>
                        <m:r>
                          <a:rPr lang="en-GB" b="0" i="1" smtClean="0">
                            <a:latin typeface="Cambria Math" panose="02040503050406030204" pitchFamily="18" charset="0"/>
                          </a:rPr>
                          <m:t>4</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𝑛</m:t>
                        </m:r>
                      </m:e>
                      <m:sub>
                        <m:r>
                          <a:rPr lang="en-GB" b="0" i="1" smtClean="0">
                            <a:latin typeface="Cambria Math" panose="02040503050406030204" pitchFamily="18" charset="0"/>
                          </a:rPr>
                          <m:t>𝐶𝐻</m:t>
                        </m:r>
                        <m:r>
                          <a:rPr lang="en-GB" b="0" i="1" smtClean="0">
                            <a:latin typeface="Cambria Math" panose="02040503050406030204" pitchFamily="18" charset="0"/>
                          </a:rPr>
                          <m:t>4</m:t>
                        </m:r>
                      </m:sub>
                    </m:sSub>
                    <m:r>
                      <a:rPr lang="en-GB" b="0" i="1" smtClean="0">
                        <a:latin typeface="Cambria Math" panose="02040503050406030204" pitchFamily="18" charset="0"/>
                      </a:rPr>
                      <m:t>𝑉</m:t>
                    </m:r>
                    <m:r>
                      <a:rPr lang="en-GB" b="0" i="1" smtClean="0">
                        <a:latin typeface="Cambria Math" panose="02040503050406030204" pitchFamily="18" charset="0"/>
                      </a:rPr>
                      <m:t>=8.3 × </m:t>
                    </m:r>
                    <m:sSup>
                      <m:sSupPr>
                        <m:ctrlPr>
                          <a:rPr lang="en-GB" b="0" i="1" smtClean="0">
                            <a:latin typeface="Cambria Math" panose="02040503050406030204" pitchFamily="18" charset="0"/>
                            <a:ea typeface="Cambria Math" panose="02040503050406030204" pitchFamily="18" charset="0"/>
                          </a:rPr>
                        </m:ctrlPr>
                      </m:sSupPr>
                      <m:e>
                        <m:r>
                          <a:rPr lang="en-GB" b="0" i="1" smtClean="0">
                            <a:latin typeface="Cambria Math" panose="02040503050406030204" pitchFamily="18" charset="0"/>
                            <a:ea typeface="Cambria Math" panose="02040503050406030204" pitchFamily="18" charset="0"/>
                          </a:rPr>
                          <m:t>10</m:t>
                        </m:r>
                      </m:e>
                      <m:sup>
                        <m:r>
                          <a:rPr lang="en-GB" b="0" i="1" smtClean="0">
                            <a:latin typeface="Cambria Math" panose="02040503050406030204" pitchFamily="18" charset="0"/>
                            <a:ea typeface="Cambria Math" panose="02040503050406030204" pitchFamily="18" charset="0"/>
                          </a:rPr>
                          <m:t>6</m:t>
                        </m:r>
                      </m:sup>
                    </m:sSup>
                    <m:r>
                      <a:rPr lang="en-GB" b="0" i="1" smtClean="0">
                        <a:latin typeface="Cambria Math" panose="02040503050406030204" pitchFamily="18" charset="0"/>
                        <a:ea typeface="Cambria Math" panose="02040503050406030204" pitchFamily="18" charset="0"/>
                      </a:rPr>
                      <m:t> </m:t>
                    </m:r>
                  </m:oMath>
                </a14:m>
                <a:r>
                  <a:rPr lang="en-GB" b="0" dirty="0">
                    <a:latin typeface="Times New Roman" panose="02020603050405020304" pitchFamily="18" charset="0"/>
                    <a:cs typeface="Times New Roman" panose="02020603050405020304" pitchFamily="18" charset="0"/>
                  </a:rPr>
                  <a:t>molecules</a:t>
                </a:r>
              </a:p>
              <a:p>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𝑒</m:t>
                        </m:r>
                      </m:sub>
                    </m:sSub>
                    <m:r>
                      <a:rPr lang="en-GB" b="0" i="1" smtClean="0">
                        <a:latin typeface="Cambria Math" panose="02040503050406030204" pitchFamily="18" charset="0"/>
                      </a:rPr>
                      <m:t>=10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𝐶𝐻</m:t>
                        </m:r>
                        <m:r>
                          <a:rPr lang="en-GB" b="0" i="1" smtClean="0">
                            <a:latin typeface="Cambria Math" panose="02040503050406030204" pitchFamily="18" charset="0"/>
                          </a:rPr>
                          <m:t>4</m:t>
                        </m:r>
                      </m:sub>
                    </m:sSub>
                    <m:r>
                      <a:rPr lang="en-GB" b="0" i="1" smtClean="0">
                        <a:latin typeface="Cambria Math" panose="02040503050406030204" pitchFamily="18" charset="0"/>
                      </a:rPr>
                      <m:t>=8.3 </m:t>
                    </m:r>
                    <m:r>
                      <a:rPr lang="en-GB" b="0" i="1" smtClean="0">
                        <a:latin typeface="Cambria Math" panose="02040503050406030204" pitchFamily="18" charset="0"/>
                        <a:ea typeface="Cambria Math" panose="02040503050406030204" pitchFamily="18" charset="0"/>
                      </a:rPr>
                      <m:t>× </m:t>
                    </m:r>
                    <m:sSup>
                      <m:sSupPr>
                        <m:ctrlPr>
                          <a:rPr lang="en-GB" b="0" i="1" smtClean="0">
                            <a:latin typeface="Cambria Math" panose="02040503050406030204" pitchFamily="18" charset="0"/>
                            <a:ea typeface="Cambria Math" panose="02040503050406030204" pitchFamily="18" charset="0"/>
                          </a:rPr>
                        </m:ctrlPr>
                      </m:sSupPr>
                      <m:e>
                        <m:r>
                          <a:rPr lang="en-GB" b="0" i="1" smtClean="0">
                            <a:latin typeface="Cambria Math" panose="02040503050406030204" pitchFamily="18" charset="0"/>
                            <a:ea typeface="Cambria Math" panose="02040503050406030204" pitchFamily="18" charset="0"/>
                          </a:rPr>
                          <m:t>10</m:t>
                        </m:r>
                      </m:e>
                      <m:sup>
                        <m:r>
                          <a:rPr lang="en-GB" b="0" i="1" smtClean="0">
                            <a:latin typeface="Cambria Math" panose="02040503050406030204" pitchFamily="18" charset="0"/>
                            <a:ea typeface="Cambria Math" panose="02040503050406030204" pitchFamily="18" charset="0"/>
                          </a:rPr>
                          <m:t>7</m:t>
                        </m:r>
                      </m:sup>
                    </m:sSup>
                    <m:r>
                      <a:rPr lang="en-GB" b="0" i="1" smtClean="0">
                        <a:latin typeface="Cambria Math" panose="02040503050406030204" pitchFamily="18" charset="0"/>
                      </a:rPr>
                      <m:t> </m:t>
                    </m:r>
                  </m:oMath>
                </a14:m>
                <a:r>
                  <a:rPr lang="en-GB" b="0" dirty="0">
                    <a:latin typeface="Times New Roman" panose="02020603050405020304" pitchFamily="18" charset="0"/>
                    <a:cs typeface="Times New Roman" panose="02020603050405020304" pitchFamily="18" charset="0"/>
                  </a:rPr>
                  <a:t>electrons from the fully ionised cluster</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4759F1C5-D387-D6B1-D357-168C95A47632}"/>
                  </a:ext>
                </a:extLst>
              </p:cNvPr>
              <p:cNvSpPr>
                <a:spLocks noGrp="1" noRot="1" noChangeAspect="1" noMove="1" noResize="1" noEditPoints="1" noAdjustHandles="1" noChangeArrowheads="1" noChangeShapeType="1" noTextEdit="1"/>
              </p:cNvSpPr>
              <p:nvPr>
                <p:ph idx="1"/>
              </p:nvPr>
            </p:nvSpPr>
            <p:spPr>
              <a:xfrm>
                <a:off x="838200" y="1825625"/>
                <a:ext cx="10657114" cy="4351338"/>
              </a:xfrm>
              <a:blipFill>
                <a:blip r:embed="rId2"/>
                <a:stretch>
                  <a:fillRect l="-1071" t="-2326" r="-1667"/>
                </a:stretch>
              </a:blipFill>
            </p:spPr>
            <p:txBody>
              <a:bodyPr/>
              <a:lstStyle/>
              <a:p>
                <a:r>
                  <a:rPr lang="en-US">
                    <a:noFill/>
                  </a:rPr>
                  <a:t> </a:t>
                </a:r>
              </a:p>
            </p:txBody>
          </p:sp>
        </mc:Fallback>
      </mc:AlternateContent>
    </p:spTree>
    <p:extLst>
      <p:ext uri="{BB962C8B-B14F-4D97-AF65-F5344CB8AC3E}">
        <p14:creationId xmlns:p14="http://schemas.microsoft.com/office/powerpoint/2010/main" val="31623864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31DB2-1805-8E8A-8AB3-4CA55AC943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03CE36-D667-015F-80F0-D9F0B7F7F2F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Pre-pulse expansion animation</a:t>
            </a:r>
          </a:p>
        </p:txBody>
      </p:sp>
      <p:pic>
        <p:nvPicPr>
          <p:cNvPr id="6" name="download (6).mp4">
            <a:hlinkClick r:id="" action="ppaction://media"/>
            <a:extLst>
              <a:ext uri="{FF2B5EF4-FFF2-40B4-BE49-F238E27FC236}">
                <a16:creationId xmlns:a16="http://schemas.microsoft.com/office/drawing/2014/main" id="{1BD1B1F5-724C-B867-47C7-D02BB90894AE}"/>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080103" y="1690688"/>
            <a:ext cx="6031794" cy="4523845"/>
          </a:xfrm>
          <a:prstGeom prst="rect">
            <a:avLst/>
          </a:prstGeom>
        </p:spPr>
      </p:pic>
    </p:spTree>
    <p:extLst>
      <p:ext uri="{BB962C8B-B14F-4D97-AF65-F5344CB8AC3E}">
        <p14:creationId xmlns:p14="http://schemas.microsoft.com/office/powerpoint/2010/main" val="931753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220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6"/>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6"/>
                                        </p:tgtEl>
                                      </p:cBhvr>
                                    </p:cmd>
                                  </p:childTnLst>
                                </p:cTn>
                              </p:par>
                            </p:childTnLst>
                          </p:cTn>
                        </p:par>
                      </p:childTnLst>
                    </p:cTn>
                  </p:par>
                </p:childTnLst>
              </p:cTn>
              <p:nextCondLst>
                <p:cond evt="onClick" delay="0">
                  <p:tgtEl>
                    <p:spTgt spid="6"/>
                  </p:tgtEl>
                </p:cond>
              </p:nextCondLst>
            </p:seq>
            <p:video>
              <p:cMediaNode vol="80000">
                <p:cTn id="12" fill="hold" display="0">
                  <p:stCondLst>
                    <p:cond delay="indefinite"/>
                  </p:stCondLst>
                </p:cTn>
                <p:tgtEl>
                  <p:spTgt spid="6"/>
                </p:tgtEl>
              </p:cMediaNode>
            </p:vide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9684713-6259-B555-93D5-CBD1DEDB38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F64538-1C19-500D-844F-BFC6BA9966FE}"/>
              </a:ext>
            </a:extLst>
          </p:cNvPr>
          <p:cNvSpPr>
            <a:spLocks noGrp="1"/>
          </p:cNvSpPr>
          <p:nvPr>
            <p:ph type="title"/>
          </p:nvPr>
        </p:nvSpPr>
        <p:spPr>
          <a:xfrm>
            <a:off x="876692" y="291225"/>
            <a:ext cx="6731115" cy="1616203"/>
          </a:xfrm>
        </p:spPr>
        <p:txBody>
          <a:bodyPr vert="horz" lIns="91440" tIns="45720" rIns="91440" bIns="45720" rtlCol="0" anchor="b">
            <a:normAutofit/>
          </a:bodyPr>
          <a:lstStyle/>
          <a:p>
            <a:r>
              <a:rPr lang="en-US" sz="3200" dirty="0">
                <a:latin typeface="Times New Roman" panose="02020603050405020304" pitchFamily="18" charset="0"/>
                <a:cs typeface="Times New Roman" panose="02020603050405020304" pitchFamily="18" charset="0"/>
              </a:rPr>
              <a:t>Measurement of cluster density change</a:t>
            </a:r>
            <a:endParaRPr lang="en-US" sz="3200" kern="1200" dirty="0">
              <a:latin typeface="Times New Roman" panose="02020603050405020304" pitchFamily="18" charset="0"/>
              <a:cs typeface="Times New Roman" panose="02020603050405020304" pitchFamily="18" charset="0"/>
            </a:endParaRPr>
          </a:p>
        </p:txBody>
      </p:sp>
      <p:pic>
        <p:nvPicPr>
          <p:cNvPr id="5" name="Content Placeholder 10">
            <a:extLst>
              <a:ext uri="{FF2B5EF4-FFF2-40B4-BE49-F238E27FC236}">
                <a16:creationId xmlns:a16="http://schemas.microsoft.com/office/drawing/2014/main" id="{AD304DC7-49AD-506D-5AD0-37B999ADF04A}"/>
              </a:ext>
            </a:extLst>
          </p:cNvPr>
          <p:cNvPicPr>
            <a:picLocks noGrp="1" noChangeAspect="1"/>
          </p:cNvPicPr>
          <p:nvPr>
            <p:ph idx="1"/>
          </p:nvPr>
        </p:nvPicPr>
        <p:blipFill>
          <a:blip r:embed="rId3"/>
          <a:srcRect t="5894"/>
          <a:stretch>
            <a:fillRect/>
          </a:stretch>
        </p:blipFill>
        <p:spPr>
          <a:xfrm>
            <a:off x="2643092" y="2398480"/>
            <a:ext cx="6488716" cy="3728172"/>
          </a:xfrm>
          <a:prstGeom prst="rect">
            <a:avLst/>
          </a:prstGeom>
        </p:spPr>
      </p:pic>
    </p:spTree>
    <p:extLst>
      <p:ext uri="{BB962C8B-B14F-4D97-AF65-F5344CB8AC3E}">
        <p14:creationId xmlns:p14="http://schemas.microsoft.com/office/powerpoint/2010/main" val="39161394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31DB2-1805-8E8A-8AB3-4CA55AC943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03CE36-D667-015F-80F0-D9F0B7F7F2F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Unclustered LWFA</a:t>
            </a:r>
          </a:p>
        </p:txBody>
      </p:sp>
      <p:pic>
        <p:nvPicPr>
          <p:cNvPr id="4" name="download (7).mp4">
            <a:hlinkClick r:id="" action="ppaction://media"/>
            <a:extLst>
              <a:ext uri="{FF2B5EF4-FFF2-40B4-BE49-F238E27FC236}">
                <a16:creationId xmlns:a16="http://schemas.microsoft.com/office/drawing/2014/main" id="{F44353D2-AAA4-EA52-B7C3-73B201883A79}"/>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3194050" y="1825625"/>
            <a:ext cx="5802313" cy="4351338"/>
          </a:xfrm>
        </p:spPr>
      </p:pic>
    </p:spTree>
    <p:extLst>
      <p:ext uri="{BB962C8B-B14F-4D97-AF65-F5344CB8AC3E}">
        <p14:creationId xmlns:p14="http://schemas.microsoft.com/office/powerpoint/2010/main" val="777872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73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4091</TotalTime>
  <Words>1378</Words>
  <Application>Microsoft Macintosh PowerPoint</Application>
  <PresentationFormat>Widescreen</PresentationFormat>
  <Paragraphs>182</Paragraphs>
  <Slides>25</Slides>
  <Notes>14</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Aptos Display</vt:lpstr>
      <vt:lpstr>Arial</vt:lpstr>
      <vt:lpstr>Cambria Math</vt:lpstr>
      <vt:lpstr>Times New Roman</vt:lpstr>
      <vt:lpstr>Office Theme</vt:lpstr>
      <vt:lpstr>Cluster-enhanced injection in Laser Wakefield Acceleration</vt:lpstr>
      <vt:lpstr>Outline</vt:lpstr>
      <vt:lpstr>Outline</vt:lpstr>
      <vt:lpstr>Laser wakefield acceleration (LWFA)</vt:lpstr>
      <vt:lpstr>PowerPoint Presentation</vt:lpstr>
      <vt:lpstr>Cluster-enhanced injection</vt:lpstr>
      <vt:lpstr>Cluster formation</vt:lpstr>
      <vt:lpstr>PowerPoint Presentation</vt:lpstr>
      <vt:lpstr>Outline</vt:lpstr>
      <vt:lpstr>Aims of the project</vt:lpstr>
      <vt:lpstr>CH4 cluster heating mechanism</vt:lpstr>
      <vt:lpstr>Gemini pre-pulse a0 evolution</vt:lpstr>
      <vt:lpstr>Heating convergence tests</vt:lpstr>
      <vt:lpstr>Heating convergence tests</vt:lpstr>
      <vt:lpstr>CH4 cluster expansion under pre-pulse</vt:lpstr>
      <vt:lpstr>CH4 cluster expansion under pre-pulse</vt:lpstr>
      <vt:lpstr>Outline</vt:lpstr>
      <vt:lpstr>Conclusions &amp; Outlook</vt:lpstr>
      <vt:lpstr>References</vt:lpstr>
      <vt:lpstr>Questions</vt:lpstr>
      <vt:lpstr>Additional slides</vt:lpstr>
      <vt:lpstr>Liquid CH4 cluster density calculation</vt:lpstr>
      <vt:lpstr>Pre-pulse expansion animation</vt:lpstr>
      <vt:lpstr>Measurement of cluster density change</vt:lpstr>
      <vt:lpstr>Unclustered LWFA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Akhtar, Ariz (Data Science Summer Intern)</dc:creator>
  <cp:lastModifiedBy>Akhtar, Ariz (Data Science Summer Intern)</cp:lastModifiedBy>
  <cp:revision>16</cp:revision>
  <dcterms:created xsi:type="dcterms:W3CDTF">2026-08-17T15:02:27Z</dcterms:created>
  <dcterms:modified xsi:type="dcterms:W3CDTF">2026-08-20T11:14:04Z</dcterms:modified>
</cp:coreProperties>
</file>