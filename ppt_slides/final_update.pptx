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2"/>
  </p:notesMasterIdLst>
  <p:sldIdLst>
    <p:sldId id="256" r:id="rId2"/>
    <p:sldId id="269" r:id="rId3"/>
    <p:sldId id="270" r:id="rId4"/>
    <p:sldId id="264" r:id="rId5"/>
    <p:sldId id="273" r:id="rId6"/>
    <p:sldId id="274" r:id="rId7"/>
    <p:sldId id="267" r:id="rId8"/>
    <p:sldId id="271" r:id="rId9"/>
    <p:sldId id="272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35"/>
  </p:normalViewPr>
  <p:slideViewPr>
    <p:cSldViewPr snapToGrid="0">
      <p:cViewPr varScale="1">
        <p:scale>
          <a:sx n="115" d="100"/>
          <a:sy n="115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9A968-C1CF-8C40-B63B-569D80036180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BD89F-F6BE-4D41-AD38-D9D3ABC66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133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starts 0.5ps before main pulse, ends 0.5ps after main pulse, lasts 1ps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BD89F-F6BE-4D41-AD38-D9D3ABC666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46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starts 0.5ps before main pulse, ends 0.5ps after main pulse, lasts 1ps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BD89F-F6BE-4D41-AD38-D9D3ABC666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18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starts 0.5ps before main pulse, ends 0.5ps after main pulse, lasts 1ps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BD89F-F6BE-4D41-AD38-D9D3ABC666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71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DA4-1378-7447-A5F7-EE218DA24FFD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E821-F421-504E-A598-B04794B3E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1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DA4-1378-7447-A5F7-EE218DA24FFD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E821-F421-504E-A598-B04794B3E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33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DA4-1378-7447-A5F7-EE218DA24FFD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E821-F421-504E-A598-B04794B3E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20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DA4-1378-7447-A5F7-EE218DA24FFD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E821-F421-504E-A598-B04794B3E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13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DA4-1378-7447-A5F7-EE218DA24FFD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E821-F421-504E-A598-B04794B3E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41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DA4-1378-7447-A5F7-EE218DA24FFD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E821-F421-504E-A598-B04794B3E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DA4-1378-7447-A5F7-EE218DA24FFD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E821-F421-504E-A598-B04794B3E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1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DA4-1378-7447-A5F7-EE218DA24FFD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E821-F421-504E-A598-B04794B3E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4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DA4-1378-7447-A5F7-EE218DA24FFD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E821-F421-504E-A598-B04794B3E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75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DA4-1378-7447-A5F7-EE218DA24FFD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E821-F421-504E-A598-B04794B3E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9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8DA4-1378-7447-A5F7-EE218DA24FFD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E821-F421-504E-A598-B04794B3E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8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38DA4-1378-7447-A5F7-EE218DA24FFD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0E821-F421-504E-A598-B04794B3E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5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2.mp4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media" Target="../media/media4.mp4"/><Relationship Id="rId7" Type="http://schemas.openxmlformats.org/officeDocument/2006/relationships/image" Target="../media/image8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4.mp4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24BF3-9000-FACB-480E-B3725D64B0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Progress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9BCDA-9A88-D29D-4724-E68A9D9D4C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Cluster-enhanced injection in LWFA</a:t>
            </a:r>
          </a:p>
        </p:txBody>
      </p:sp>
    </p:spTree>
    <p:extLst>
      <p:ext uri="{BB962C8B-B14F-4D97-AF65-F5344CB8AC3E}">
        <p14:creationId xmlns:p14="http://schemas.microsoft.com/office/powerpoint/2010/main" val="149756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0A47BC-2591-E6E8-35D1-85375055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/>
              <a:t>Prepulse a0 mistake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BD37B-1CAC-8B2D-616C-9C51550D4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>
            <a:normAutofit/>
          </a:bodyPr>
          <a:lstStyle/>
          <a:p>
            <a:r>
              <a:rPr lang="en-US" sz="2000"/>
              <a:t>Previously used sqrt of the intensity by mistake</a:t>
            </a:r>
          </a:p>
          <a:p>
            <a:endParaRPr lang="en-US" sz="2000"/>
          </a:p>
          <a:p>
            <a:r>
              <a:rPr lang="en-US" sz="2000"/>
              <a:t>Led to ionization 8ps ahead of main pulse</a:t>
            </a:r>
          </a:p>
          <a:p>
            <a:endParaRPr lang="en-US" sz="2000"/>
          </a:p>
          <a:p>
            <a:r>
              <a:rPr lang="en-US" sz="2000"/>
              <a:t>Mistake has now been corrected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38EC3A-B035-D9A8-E1A2-D94A90EBB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11" b="1"/>
          <a:stretch>
            <a:fillRect/>
          </a:stretch>
        </p:blipFill>
        <p:spPr>
          <a:xfrm>
            <a:off x="5183500" y="1904282"/>
            <a:ext cx="6170299" cy="422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3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4811E-7E82-33BF-4828-8F9E1EEE9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1635951-E800-396B-1026-F2A014871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F2A54-DA90-9563-6689-45E76D85B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/>
              <a:t>Prepulse a0 mistake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6BDA2-857B-F10E-15F0-5A64F5BE1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>
            <a:normAutofit/>
          </a:bodyPr>
          <a:lstStyle/>
          <a:p>
            <a:r>
              <a:rPr lang="en-US" sz="2000"/>
              <a:t>Previously used sqrt of the intensity by mistake</a:t>
            </a:r>
          </a:p>
          <a:p>
            <a:endParaRPr lang="en-US" sz="2000"/>
          </a:p>
          <a:p>
            <a:r>
              <a:rPr lang="en-US" sz="2000"/>
              <a:t>Led to ionization 8ps ahead of main pulse</a:t>
            </a:r>
          </a:p>
          <a:p>
            <a:endParaRPr lang="en-US" sz="2000"/>
          </a:p>
          <a:p>
            <a:r>
              <a:rPr lang="en-US" sz="2000"/>
              <a:t>Mistake has now been corrected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D98707E8-E54F-128C-8B58-AAD6D8C69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973" y="1529629"/>
            <a:ext cx="6633978" cy="436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31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94F86-6827-0ECB-0420-6514F5FF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Prepulse</a:t>
            </a:r>
            <a:r>
              <a:rPr lang="en-US" dirty="0"/>
              <a:t> expansion of CH4 cluster</a:t>
            </a:r>
          </a:p>
        </p:txBody>
      </p:sp>
      <p:pic>
        <p:nvPicPr>
          <p:cNvPr id="4" name="download (11).mp4">
            <a:hlinkClick r:id="" action="ppaction://media"/>
            <a:extLst>
              <a:ext uri="{FF2B5EF4-FFF2-40B4-BE49-F238E27FC236}">
                <a16:creationId xmlns:a16="http://schemas.microsoft.com/office/drawing/2014/main" id="{81A7B94A-62F9-8C1C-A363-711E24D3B5A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94050" y="1825625"/>
            <a:ext cx="5802313" cy="4351338"/>
          </a:xfrm>
        </p:spPr>
      </p:pic>
    </p:spTree>
    <p:extLst>
      <p:ext uri="{BB962C8B-B14F-4D97-AF65-F5344CB8AC3E}">
        <p14:creationId xmlns:p14="http://schemas.microsoft.com/office/powerpoint/2010/main" val="137404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9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94F86-6827-0ECB-0420-6514F5FF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Prepulse</a:t>
            </a:r>
            <a:r>
              <a:rPr lang="en-US" dirty="0"/>
              <a:t> expansion of CH4 cluster</a:t>
            </a:r>
          </a:p>
        </p:txBody>
      </p:sp>
      <p:pic>
        <p:nvPicPr>
          <p:cNvPr id="6" name="rho_el.mp4">
            <a:hlinkClick r:id="" action="ppaction://media"/>
            <a:extLst>
              <a:ext uri="{FF2B5EF4-FFF2-40B4-BE49-F238E27FC236}">
                <a16:creationId xmlns:a16="http://schemas.microsoft.com/office/drawing/2014/main" id="{71100EB2-697E-B558-5099-46810C0701A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94050" y="1825625"/>
            <a:ext cx="5802313" cy="4351338"/>
          </a:xfrm>
        </p:spPr>
      </p:pic>
    </p:spTree>
    <p:extLst>
      <p:ext uri="{BB962C8B-B14F-4D97-AF65-F5344CB8AC3E}">
        <p14:creationId xmlns:p14="http://schemas.microsoft.com/office/powerpoint/2010/main" val="165413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9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94F86-6827-0ECB-0420-6514F5FFA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/>
              <a:t>Prepulse expansion of CH4 cluster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download (11).mp4">
            <a:hlinkClick r:id="" action="ppaction://media"/>
            <a:extLst>
              <a:ext uri="{FF2B5EF4-FFF2-40B4-BE49-F238E27FC236}">
                <a16:creationId xmlns:a16="http://schemas.microsoft.com/office/drawing/2014/main" id="{E3C1F2B6-C181-4A4C-7283-D338515A22D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23392" y="2642616"/>
            <a:ext cx="4807712" cy="3605784"/>
          </a:xfrm>
          <a:prstGeom prst="rect">
            <a:avLst/>
          </a:prstGeom>
        </p:spPr>
      </p:pic>
      <p:pic>
        <p:nvPicPr>
          <p:cNvPr id="6" name="rho_el.mp4">
            <a:hlinkClick r:id="" action="ppaction://media"/>
            <a:extLst>
              <a:ext uri="{FF2B5EF4-FFF2-40B4-BE49-F238E27FC236}">
                <a16:creationId xmlns:a16="http://schemas.microsoft.com/office/drawing/2014/main" id="{71100EB2-697E-B558-5099-46810C0701A4}"/>
              </a:ext>
            </a:extLst>
          </p:cNvPr>
          <p:cNvPicPr>
            <a:picLocks noGrp="1" noChangeAspect="1"/>
          </p:cNvPicPr>
          <p:nvPr>
            <p:ph idx="1"/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657848" y="2642616"/>
            <a:ext cx="4807712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7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9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69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94F86-6827-0ECB-0420-6514F5FF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Prepulse</a:t>
            </a:r>
            <a:r>
              <a:rPr lang="en-US" dirty="0"/>
              <a:t> expansion of CH4 cluster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C492FCC-B3A2-9F04-B510-303027DCD9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680098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=0.84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0" dirty="0">
                    <a:ea typeface="Cambria Math" panose="02040503050406030204" pitchFamily="18" charset="0"/>
                  </a:rPr>
                  <a:t>when the main pulse arrives</a:t>
                </a:r>
              </a:p>
              <a:p>
                <a:r>
                  <a:rPr lang="en-US" dirty="0" err="1"/>
                  <a:t>Ionisation</a:t>
                </a:r>
                <a:r>
                  <a:rPr lang="en-US" dirty="0"/>
                  <a:t> begins to occur 0.25ps ahead of the main pulse</a:t>
                </a:r>
              </a:p>
              <a:p>
                <a:r>
                  <a:rPr lang="en-US" dirty="0"/>
                  <a:t>Cluster parameters: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=91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𝑛𝑚</m:t>
                    </m:r>
                  </m:oMath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C492FCC-B3A2-9F04-B510-303027DCD9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680098" cy="4351338"/>
              </a:xfrm>
              <a:blipFill>
                <a:blip r:embed="rId2"/>
                <a:stretch>
                  <a:fillRect l="-243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2AEE098D-A20F-1ACF-6B49-C9F8E1154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650" y="1690688"/>
            <a:ext cx="60592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9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1ECB45-6F3D-C440-7AD2-EE716FDB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LWFA baseline: Clustered vs Unclustered</a:t>
            </a:r>
          </a:p>
        </p:txBody>
      </p:sp>
      <p:pic>
        <p:nvPicPr>
          <p:cNvPr id="3" name="download (10).mp4">
            <a:hlinkClick r:id="" action="ppaction://media"/>
            <a:extLst>
              <a:ext uri="{FF2B5EF4-FFF2-40B4-BE49-F238E27FC236}">
                <a16:creationId xmlns:a16="http://schemas.microsoft.com/office/drawing/2014/main" id="{29090631-EB08-3004-093F-D8615E171E2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69527" y="2365285"/>
            <a:ext cx="5251675" cy="3938756"/>
          </a:xfrm>
          <a:prstGeom prst="rect">
            <a:avLst/>
          </a:prstGeom>
        </p:spPr>
      </p:pic>
      <p:pic>
        <p:nvPicPr>
          <p:cNvPr id="7" name="Ey_units.mp4">
            <a:hlinkClick r:id="" action="ppaction://media"/>
            <a:extLst>
              <a:ext uri="{FF2B5EF4-FFF2-40B4-BE49-F238E27FC236}">
                <a16:creationId xmlns:a16="http://schemas.microsoft.com/office/drawing/2014/main" id="{CCD4EC2A-98A3-1B39-7D5C-EC63FAC89EBD}"/>
              </a:ext>
            </a:extLst>
          </p:cNvPr>
          <p:cNvPicPr>
            <a:picLocks noGrp="1" noChangeAspect="1"/>
          </p:cNvPicPr>
          <p:nvPr>
            <p:ph idx="1"/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70798" y="2365285"/>
            <a:ext cx="5251675" cy="39387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1734E2-5698-D2B6-D989-114E1B984D0C}"/>
              </a:ext>
            </a:extLst>
          </p:cNvPr>
          <p:cNvSpPr txBox="1"/>
          <p:nvPr/>
        </p:nvSpPr>
        <p:spPr>
          <a:xfrm>
            <a:off x="2677633" y="2225525"/>
            <a:ext cx="8178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Clustered											Unclustered		 </a:t>
            </a:r>
          </a:p>
        </p:txBody>
      </p:sp>
    </p:spTree>
    <p:extLst>
      <p:ext uri="{BB962C8B-B14F-4D97-AF65-F5344CB8AC3E}">
        <p14:creationId xmlns:p14="http://schemas.microsoft.com/office/powerpoint/2010/main" val="8425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3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7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9F7EB-B8B2-B98F-4251-8A85F9CB2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85D85F5-0851-7538-C629-9B0AD5631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186060-6209-555C-A4D2-28097BD28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LWFA with Clustered CH4 (Rho)</a:t>
            </a:r>
          </a:p>
        </p:txBody>
      </p:sp>
      <p:pic>
        <p:nvPicPr>
          <p:cNvPr id="5" name="download (11).mp4">
            <a:hlinkClick r:id="" action="ppaction://media"/>
            <a:extLst>
              <a:ext uri="{FF2B5EF4-FFF2-40B4-BE49-F238E27FC236}">
                <a16:creationId xmlns:a16="http://schemas.microsoft.com/office/drawing/2014/main" id="{165E947F-FE49-0429-2A64-866FD130C22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94050" y="1825625"/>
            <a:ext cx="5802313" cy="4351338"/>
          </a:xfrm>
        </p:spPr>
      </p:pic>
    </p:spTree>
    <p:extLst>
      <p:ext uri="{BB962C8B-B14F-4D97-AF65-F5344CB8AC3E}">
        <p14:creationId xmlns:p14="http://schemas.microsoft.com/office/powerpoint/2010/main" val="111546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DF5B-86AB-C6FD-9494-EC0B52276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Liquid CH4 cluster density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9F1C5-D387-D6B1-D357-168C95A476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57114" cy="4351338"/>
              </a:xfrm>
            </p:spPr>
            <p:txBody>
              <a:bodyPr/>
              <a:lstStyle/>
              <a:p>
                <a:r>
                  <a:rPr lang="en-US" dirty="0"/>
                  <a:t>Liquid methane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=0.42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dirty="0"/>
                  <a:t>, molecular mass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=16.04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GB" b="0" dirty="0"/>
              </a:p>
              <a:p>
                <a:r>
                  <a:rPr lang="en-GB" dirty="0"/>
                  <a:t>Yields electron n</a:t>
                </a:r>
                <a:r>
                  <a:rPr lang="en-GB" b="0" dirty="0"/>
                  <a:t>umber 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=1.58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=91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r>
                  <a:rPr lang="en-GB" b="0" dirty="0"/>
                  <a:t>, 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=10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𝐶𝐻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GB" b="0" dirty="0"/>
              </a:p>
              <a:p>
                <a:r>
                  <a:rPr lang="en-GB" dirty="0"/>
                  <a:t>Cluster radius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𝑛𝑚</m:t>
                    </m:r>
                  </m:oMath>
                </a14:m>
                <a:r>
                  <a:rPr lang="en-GB" b="0" dirty="0"/>
                  <a:t> in simulations,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𝑐𝑙𝑢𝑠𝑡𝑒𝑟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=5.24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−22</m:t>
                        </m:r>
                      </m:sup>
                    </m:sSup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GB" b="0" dirty="0"/>
              </a:p>
              <a:p>
                <a:r>
                  <a:rPr lang="en-GB" dirty="0"/>
                  <a:t>This gives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𝐶𝐻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𝐶𝐻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=8.3 ×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0" dirty="0"/>
                  <a:t>molecules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=10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𝐶𝐻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=8.3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0" dirty="0"/>
                  <a:t>electrons from the fully ionised cluster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9F1C5-D387-D6B1-D357-168C95A476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57114" cy="4351338"/>
              </a:xfrm>
              <a:blipFill>
                <a:blip r:embed="rId2"/>
                <a:stretch>
                  <a:fillRect l="-1071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386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13049</TotalTime>
  <Words>269</Words>
  <Application>Microsoft Macintosh PowerPoint</Application>
  <PresentationFormat>Widescreen</PresentationFormat>
  <Paragraphs>37</Paragraphs>
  <Slides>10</Slides>
  <Notes>3</Notes>
  <HiddenSlides>0</HiddenSlides>
  <MMClips>7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Cambria Math</vt:lpstr>
      <vt:lpstr>Office 2013 - 2022 Theme</vt:lpstr>
      <vt:lpstr>Progress update</vt:lpstr>
      <vt:lpstr>Prepulse a0 mistake</vt:lpstr>
      <vt:lpstr>Prepulse a0 mistake</vt:lpstr>
      <vt:lpstr>Prepulse expansion of CH4 cluster</vt:lpstr>
      <vt:lpstr>Prepulse expansion of CH4 cluster</vt:lpstr>
      <vt:lpstr>Prepulse expansion of CH4 cluster</vt:lpstr>
      <vt:lpstr>Prepulse expansion of CH4 cluster</vt:lpstr>
      <vt:lpstr>LWFA baseline: Clustered vs Unclustered</vt:lpstr>
      <vt:lpstr>LWFA with Clustered CH4 (Rho)</vt:lpstr>
      <vt:lpstr>Liquid CH4 cluster density calculation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Akhtar, Ariz (Data Science Summer Intern)</dc:creator>
  <cp:lastModifiedBy>Akhtar, Ariz (Data Science Summer Intern)</cp:lastModifiedBy>
  <cp:revision>7</cp:revision>
  <dcterms:created xsi:type="dcterms:W3CDTF">2026-08-05T15:03:40Z</dcterms:created>
  <dcterms:modified xsi:type="dcterms:W3CDTF">2026-08-27T14:01:56Z</dcterms:modified>
</cp:coreProperties>
</file>